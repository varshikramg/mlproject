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54871A2-5898-40EA-AECC-0CADA0ACFF5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19390E-5FEE-452F-879D-766B8314F877}" type="slidenum">
              <a:rPr lang="en-IN" smtClean="0"/>
              <a:t>‹#›</a:t>
            </a:fld>
            <a:endParaRPr lang="en-IN"/>
          </a:p>
        </p:txBody>
      </p:sp>
    </p:spTree>
    <p:extLst>
      <p:ext uri="{BB962C8B-B14F-4D97-AF65-F5344CB8AC3E}">
        <p14:creationId xmlns:p14="http://schemas.microsoft.com/office/powerpoint/2010/main" val="1612366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54871A2-5898-40EA-AECC-0CADA0ACFF5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19390E-5FEE-452F-879D-766B8314F877}" type="slidenum">
              <a:rPr lang="en-IN" smtClean="0"/>
              <a:t>‹#›</a:t>
            </a:fld>
            <a:endParaRPr lang="en-IN"/>
          </a:p>
        </p:txBody>
      </p:sp>
    </p:spTree>
    <p:extLst>
      <p:ext uri="{BB962C8B-B14F-4D97-AF65-F5344CB8AC3E}">
        <p14:creationId xmlns:p14="http://schemas.microsoft.com/office/powerpoint/2010/main" val="1925140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54871A2-5898-40EA-AECC-0CADA0ACFF5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19390E-5FEE-452F-879D-766B8314F877}" type="slidenum">
              <a:rPr lang="en-IN" smtClean="0"/>
              <a:t>‹#›</a:t>
            </a:fld>
            <a:endParaRPr lang="en-IN"/>
          </a:p>
        </p:txBody>
      </p:sp>
    </p:spTree>
    <p:extLst>
      <p:ext uri="{BB962C8B-B14F-4D97-AF65-F5344CB8AC3E}">
        <p14:creationId xmlns:p14="http://schemas.microsoft.com/office/powerpoint/2010/main" val="2568165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54871A2-5898-40EA-AECC-0CADA0ACFF56}"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19390E-5FEE-452F-879D-766B8314F877}" type="slidenum">
              <a:rPr lang="en-IN" smtClean="0"/>
              <a:t>‹#›</a:t>
            </a:fld>
            <a:endParaRPr lang="en-IN"/>
          </a:p>
        </p:txBody>
      </p:sp>
    </p:spTree>
    <p:extLst>
      <p:ext uri="{BB962C8B-B14F-4D97-AF65-F5344CB8AC3E}">
        <p14:creationId xmlns:p14="http://schemas.microsoft.com/office/powerpoint/2010/main" val="3840655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54871A2-5898-40EA-AECC-0CADA0ACFF56}" type="datetimeFigureOut">
              <a:rPr lang="en-IN" smtClean="0"/>
              <a:t>07-04-2026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219390E-5FEE-452F-879D-766B8314F877}" type="slidenum">
              <a:rPr lang="en-IN" smtClean="0"/>
              <a:t>‹#›</a:t>
            </a:fld>
            <a:endParaRPr lang="en-IN"/>
          </a:p>
        </p:txBody>
      </p:sp>
    </p:spTree>
    <p:extLst>
      <p:ext uri="{BB962C8B-B14F-4D97-AF65-F5344CB8AC3E}">
        <p14:creationId xmlns:p14="http://schemas.microsoft.com/office/powerpoint/2010/main" val="3660475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54871A2-5898-40EA-AECC-0CADA0ACFF56}" type="datetimeFigureOut">
              <a:rPr lang="en-IN" smtClean="0"/>
              <a:t>07-04-2026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219390E-5FEE-452F-879D-766B8314F877}" type="slidenum">
              <a:rPr lang="en-IN" smtClean="0"/>
              <a:t>‹#›</a:t>
            </a:fld>
            <a:endParaRPr lang="en-IN"/>
          </a:p>
        </p:txBody>
      </p:sp>
    </p:spTree>
    <p:extLst>
      <p:ext uri="{BB962C8B-B14F-4D97-AF65-F5344CB8AC3E}">
        <p14:creationId xmlns:p14="http://schemas.microsoft.com/office/powerpoint/2010/main" val="3974843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4871A2-5898-40EA-AECC-0CADA0ACFF56}" type="datetimeFigureOut">
              <a:rPr lang="en-IN" smtClean="0"/>
              <a:t>07-04-2026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219390E-5FEE-452F-879D-766B8314F877}" type="slidenum">
              <a:rPr lang="en-IN" smtClean="0"/>
              <a:t>‹#›</a:t>
            </a:fld>
            <a:endParaRPr lang="en-IN"/>
          </a:p>
        </p:txBody>
      </p:sp>
    </p:spTree>
    <p:extLst>
      <p:ext uri="{BB962C8B-B14F-4D97-AF65-F5344CB8AC3E}">
        <p14:creationId xmlns:p14="http://schemas.microsoft.com/office/powerpoint/2010/main" val="783117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4871A2-5898-40EA-AECC-0CADA0ACFF56}"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19390E-5FEE-452F-879D-766B8314F877}" type="slidenum">
              <a:rPr lang="en-IN" smtClean="0"/>
              <a:t>‹#›</a:t>
            </a:fld>
            <a:endParaRPr lang="en-IN"/>
          </a:p>
        </p:txBody>
      </p:sp>
    </p:spTree>
    <p:extLst>
      <p:ext uri="{BB962C8B-B14F-4D97-AF65-F5344CB8AC3E}">
        <p14:creationId xmlns:p14="http://schemas.microsoft.com/office/powerpoint/2010/main" val="1264363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4871A2-5898-40EA-AECC-0CADA0ACFF56}"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19390E-5FEE-452F-879D-766B8314F877}" type="slidenum">
              <a:rPr lang="en-IN" smtClean="0"/>
              <a:t>‹#›</a:t>
            </a:fld>
            <a:endParaRPr lang="en-IN"/>
          </a:p>
        </p:txBody>
      </p:sp>
    </p:spTree>
    <p:extLst>
      <p:ext uri="{BB962C8B-B14F-4D97-AF65-F5344CB8AC3E}">
        <p14:creationId xmlns:p14="http://schemas.microsoft.com/office/powerpoint/2010/main" val="3258113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54871A2-5898-40EA-AECC-0CADA0ACFF5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19390E-5FEE-452F-879D-766B8314F877}" type="slidenum">
              <a:rPr lang="en-IN" smtClean="0"/>
              <a:t>‹#›</a:t>
            </a:fld>
            <a:endParaRPr lang="en-IN"/>
          </a:p>
        </p:txBody>
      </p:sp>
    </p:spTree>
    <p:extLst>
      <p:ext uri="{BB962C8B-B14F-4D97-AF65-F5344CB8AC3E}">
        <p14:creationId xmlns:p14="http://schemas.microsoft.com/office/powerpoint/2010/main" val="3214456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54871A2-5898-40EA-AECC-0CADA0ACFF56}"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19390E-5FEE-452F-879D-766B8314F877}" type="slidenum">
              <a:rPr lang="en-IN" smtClean="0"/>
              <a:t>‹#›</a:t>
            </a:fld>
            <a:endParaRPr lang="en-IN"/>
          </a:p>
        </p:txBody>
      </p:sp>
    </p:spTree>
    <p:extLst>
      <p:ext uri="{BB962C8B-B14F-4D97-AF65-F5344CB8AC3E}">
        <p14:creationId xmlns:p14="http://schemas.microsoft.com/office/powerpoint/2010/main" val="993296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4871A2-5898-40EA-AECC-0CADA0ACFF56}" type="datetimeFigureOut">
              <a:rPr lang="en-IN" smtClean="0"/>
              <a:t>07-04-2026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19390E-5FEE-452F-879D-766B8314F877}" type="slidenum">
              <a:rPr lang="en-IN" smtClean="0"/>
              <a:t>‹#›</a:t>
            </a:fld>
            <a:endParaRPr lang="en-IN"/>
          </a:p>
        </p:txBody>
      </p:sp>
    </p:spTree>
    <p:extLst>
      <p:ext uri="{BB962C8B-B14F-4D97-AF65-F5344CB8AC3E}">
        <p14:creationId xmlns:p14="http://schemas.microsoft.com/office/powerpoint/2010/main" val="106855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B1B2B"/>
          </a:solidFill>
          <a:ln>
            <a:solidFill>
              <a:srgbClr val="0B1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889000" y="1587500"/>
            <a:ext cx="8255000" cy="1272143"/>
          </a:xfrm>
          <a:prstGeom prst="rect">
            <a:avLst/>
          </a:prstGeom>
          <a:noFill/>
        </p:spPr>
        <p:txBody>
          <a:bodyPr vert="horz" wrap="square" lIns="76200" tIns="50800" rIns="76200" bIns="50800" rtlCol="0">
            <a:spAutoFit/>
          </a:bodyPr>
          <a:lstStyle/>
          <a:p>
            <a:r>
              <a:rPr lang="en-US" sz="3800" b="1" smtClean="0">
                <a:solidFill>
                  <a:srgbClr val="FFFFFF"/>
                </a:solidFill>
                <a:latin typeface="Calibri" panose="020F0502020204030204" pitchFamily="34" charset="0"/>
              </a:rPr>
              <a:t>House Price Prediction
using Machine Learning</a:t>
            </a:r>
            <a:endParaRPr lang="en-IN" sz="3800" b="1">
              <a:solidFill>
                <a:srgbClr val="FFFFFF"/>
              </a:solidFill>
              <a:latin typeface="Calibri" panose="020F0502020204030204" pitchFamily="34" charset="0"/>
            </a:endParaRPr>
          </a:p>
        </p:txBody>
      </p:sp>
      <p:sp>
        <p:nvSpPr>
          <p:cNvPr id="4" name="TextBox 3"/>
          <p:cNvSpPr txBox="1"/>
          <p:nvPr/>
        </p:nvSpPr>
        <p:spPr>
          <a:xfrm>
            <a:off x="939800" y="3175000"/>
            <a:ext cx="5334000" cy="441146"/>
          </a:xfrm>
          <a:prstGeom prst="rect">
            <a:avLst/>
          </a:prstGeom>
          <a:noFill/>
        </p:spPr>
        <p:txBody>
          <a:bodyPr vert="horz" wrap="square" lIns="76200" tIns="50800" rIns="76200" bIns="50800" rtlCol="0">
            <a:spAutoFit/>
          </a:bodyPr>
          <a:lstStyle/>
          <a:p>
            <a:r>
              <a:rPr lang="en-IN" sz="2200" smtClean="0">
                <a:solidFill>
                  <a:srgbClr val="FFFFFF"/>
                </a:solidFill>
                <a:latin typeface="Calibri" panose="020F0502020204030204" pitchFamily="34" charset="0"/>
              </a:rPr>
              <a:t>PRML Mini Project</a:t>
            </a:r>
            <a:endParaRPr lang="en-IN" sz="2200">
              <a:solidFill>
                <a:srgbClr val="FFFFFF"/>
              </a:solidFill>
              <a:latin typeface="Calibri" panose="020F0502020204030204" pitchFamily="34" charset="0"/>
            </a:endParaRPr>
          </a:p>
        </p:txBody>
      </p:sp>
      <p:sp>
        <p:nvSpPr>
          <p:cNvPr id="5" name="Rectangle 4"/>
          <p:cNvSpPr/>
          <p:nvPr/>
        </p:nvSpPr>
        <p:spPr>
          <a:xfrm>
            <a:off x="889000" y="3911600"/>
            <a:ext cx="8128000" cy="254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939800" y="4165600"/>
            <a:ext cx="8255000" cy="381000"/>
          </a:xfrm>
          <a:prstGeom prst="rect">
            <a:avLst/>
          </a:prstGeom>
          <a:noFill/>
        </p:spPr>
        <p:txBody>
          <a:bodyPr vert="horz" wrap="square" lIns="76200" tIns="50800" rIns="76200" bIns="50800" rtlCol="0">
            <a:spAutoFit/>
          </a:bodyPr>
          <a:lstStyle/>
          <a:p>
            <a:r>
              <a:rPr lang="en-US" smtClean="0">
                <a:solidFill>
                  <a:srgbClr val="FFFFFF"/>
                </a:solidFill>
                <a:latin typeface="Calibri" panose="020F0502020204030204" pitchFamily="34" charset="0"/>
              </a:rPr>
              <a:t>Dataset: Kaggle House Prices - Advanced Regression Techniques</a:t>
            </a:r>
            <a:endParaRPr lang="en-IN">
              <a:solidFill>
                <a:srgbClr val="FFFFFF"/>
              </a:solidFill>
              <a:latin typeface="Calibri" panose="020F0502020204030204" pitchFamily="34" charset="0"/>
            </a:endParaRPr>
          </a:p>
        </p:txBody>
      </p:sp>
      <p:sp>
        <p:nvSpPr>
          <p:cNvPr id="7" name="TextBox 6"/>
          <p:cNvSpPr txBox="1"/>
          <p:nvPr/>
        </p:nvSpPr>
        <p:spPr>
          <a:xfrm>
            <a:off x="939800" y="4953000"/>
            <a:ext cx="8255000" cy="795089"/>
          </a:xfrm>
          <a:prstGeom prst="rect">
            <a:avLst/>
          </a:prstGeom>
          <a:noFill/>
        </p:spPr>
        <p:txBody>
          <a:bodyPr vert="horz" wrap="square" lIns="76200" tIns="50800" rIns="76200" bIns="50800" rtlCol="0">
            <a:spAutoFit/>
          </a:bodyPr>
          <a:lstStyle/>
          <a:p>
            <a:r>
              <a:rPr lang="en-US" sz="1500" smtClean="0">
                <a:solidFill>
                  <a:srgbClr val="FFFFFF"/>
                </a:solidFill>
                <a:latin typeface="Calibri" panose="020F0502020204030204" pitchFamily="34" charset="0"/>
              </a:rPr>
              <a:t>Department of Information Technology
UIT2601 - Pattern Recognition and Machine Learning
Name / Roll No: Add Here</a:t>
            </a:r>
            <a:endParaRPr lang="en-IN" sz="1500">
              <a:solidFill>
                <a:srgbClr val="FFFFFF"/>
              </a:solidFill>
              <a:latin typeface="Calibri" panose="020F0502020204030204" pitchFamily="34" charset="0"/>
            </a:endParaRPr>
          </a:p>
        </p:txBody>
      </p:sp>
      <p:sp>
        <p:nvSpPr>
          <p:cNvPr id="8" name="Rounded Rectangle 7"/>
          <p:cNvSpPr/>
          <p:nvPr/>
        </p:nvSpPr>
        <p:spPr>
          <a:xfrm>
            <a:off x="9652000" y="1143000"/>
            <a:ext cx="1524000" cy="4572000"/>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9855200" y="2730500"/>
            <a:ext cx="1143000" cy="1395254"/>
          </a:xfrm>
          <a:prstGeom prst="rect">
            <a:avLst/>
          </a:prstGeom>
          <a:noFill/>
        </p:spPr>
        <p:txBody>
          <a:bodyPr vert="horz" wrap="square" lIns="76200" tIns="50800" rIns="76200" bIns="50800" rtlCol="0">
            <a:spAutoFit/>
          </a:bodyPr>
          <a:lstStyle/>
          <a:p>
            <a:pPr algn="ctr"/>
            <a:r>
              <a:rPr lang="en-IN" sz="2800" b="1" smtClean="0">
                <a:solidFill>
                  <a:srgbClr val="FFFFFF"/>
                </a:solidFill>
                <a:latin typeface="Calibri" panose="020F0502020204030204" pitchFamily="34" charset="0"/>
              </a:rPr>
              <a:t>ML
Pipeline</a:t>
            </a:r>
            <a:endParaRPr lang="en-IN" sz="2800" b="1">
              <a:solidFill>
                <a:srgbClr val="FFFFFF"/>
              </a:solidFill>
              <a:latin typeface="Calibri" panose="020F0502020204030204" pitchFamily="34" charset="0"/>
            </a:endParaRPr>
          </a:p>
        </p:txBody>
      </p:sp>
    </p:spTree>
    <p:extLst>
      <p:ext uri="{BB962C8B-B14F-4D97-AF65-F5344CB8AC3E}">
        <p14:creationId xmlns:p14="http://schemas.microsoft.com/office/powerpoint/2010/main" val="1067990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63600"/>
          </a:xfrm>
          <a:prstGeom prst="rect">
            <a:avLst/>
          </a:prstGeom>
          <a:solidFill>
            <a:srgbClr val="0B1B2B"/>
          </a:solidFill>
          <a:ln>
            <a:solidFill>
              <a:srgbClr val="0B1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31800" y="152400"/>
            <a:ext cx="9144000" cy="487313"/>
          </a:xfrm>
          <a:prstGeom prst="rect">
            <a:avLst/>
          </a:prstGeom>
          <a:noFill/>
        </p:spPr>
        <p:txBody>
          <a:bodyPr vert="horz" wrap="square" lIns="76200" tIns="50800" rIns="76200" bIns="50800" rtlCol="0">
            <a:spAutoFit/>
          </a:bodyPr>
          <a:lstStyle/>
          <a:p>
            <a:r>
              <a:rPr lang="en-IN" sz="2500" b="1" smtClean="0">
                <a:solidFill>
                  <a:srgbClr val="FFFFFF"/>
                </a:solidFill>
                <a:latin typeface="Calibri" panose="020F0502020204030204" pitchFamily="34" charset="0"/>
              </a:rPr>
              <a:t>Problem Statement &amp; Objectives</a:t>
            </a:r>
            <a:endParaRPr lang="en-IN" sz="2500" b="1">
              <a:solidFill>
                <a:srgbClr val="FFFFFF"/>
              </a:solidFill>
              <a:latin typeface="Calibri" panose="020F0502020204030204" pitchFamily="34" charset="0"/>
            </a:endParaRPr>
          </a:p>
        </p:txBody>
      </p:sp>
      <p:sp>
        <p:nvSpPr>
          <p:cNvPr id="4" name="TextBox 3"/>
          <p:cNvSpPr txBox="1"/>
          <p:nvPr/>
        </p:nvSpPr>
        <p:spPr>
          <a:xfrm>
            <a:off x="9652000" y="215900"/>
            <a:ext cx="2032000" cy="287258"/>
          </a:xfrm>
          <a:prstGeom prst="rect">
            <a:avLst/>
          </a:prstGeom>
          <a:noFill/>
        </p:spPr>
        <p:txBody>
          <a:bodyPr vert="horz" wrap="square" lIns="76200" tIns="50800" rIns="76200" bIns="50800" rtlCol="0">
            <a:spAutoFit/>
          </a:bodyPr>
          <a:lstStyle/>
          <a:p>
            <a:pPr algn="r"/>
            <a:r>
              <a:rPr lang="en-IN" sz="1200" smtClean="0">
                <a:solidFill>
                  <a:srgbClr val="FFFFFF"/>
                </a:solidFill>
                <a:latin typeface="Calibri" panose="020F0502020204030204" pitchFamily="34" charset="0"/>
              </a:rPr>
              <a:t>PRML Mini Project</a:t>
            </a:r>
            <a:endParaRPr lang="en-IN" sz="1200">
              <a:solidFill>
                <a:srgbClr val="FFFFFF"/>
              </a:solidFill>
              <a:latin typeface="Calibri" panose="020F0502020204030204" pitchFamily="34" charset="0"/>
            </a:endParaRPr>
          </a:p>
        </p:txBody>
      </p:sp>
      <p:sp>
        <p:nvSpPr>
          <p:cNvPr id="5" name="TextBox 4"/>
          <p:cNvSpPr txBox="1"/>
          <p:nvPr/>
        </p:nvSpPr>
        <p:spPr>
          <a:xfrm>
            <a:off x="609600" y="1168400"/>
            <a:ext cx="4572000" cy="425758"/>
          </a:xfrm>
          <a:prstGeom prst="rect">
            <a:avLst/>
          </a:prstGeom>
          <a:noFill/>
        </p:spPr>
        <p:txBody>
          <a:bodyPr vert="horz" wrap="square" lIns="76200" tIns="50800" rIns="76200" bIns="50800" rtlCol="0">
            <a:spAutoFit/>
          </a:bodyPr>
          <a:lstStyle/>
          <a:p>
            <a:r>
              <a:rPr lang="en-IN" sz="2100" b="1" smtClean="0">
                <a:solidFill>
                  <a:srgbClr val="0B1B2B"/>
                </a:solidFill>
                <a:latin typeface="Calibri" panose="020F0502020204030204" pitchFamily="34" charset="0"/>
              </a:rPr>
              <a:t>Problem Statement</a:t>
            </a:r>
            <a:endParaRPr lang="en-IN" sz="2100" b="1">
              <a:solidFill>
                <a:srgbClr val="0B1B2B"/>
              </a:solidFill>
              <a:latin typeface="Calibri" panose="020F0502020204030204" pitchFamily="34" charset="0"/>
            </a:endParaRPr>
          </a:p>
        </p:txBody>
      </p:sp>
      <p:sp>
        <p:nvSpPr>
          <p:cNvPr id="6" name="TextBox 5"/>
          <p:cNvSpPr txBox="1"/>
          <p:nvPr/>
        </p:nvSpPr>
        <p:spPr>
          <a:xfrm>
            <a:off x="635000" y="1651000"/>
            <a:ext cx="10414000" cy="933589"/>
          </a:xfrm>
          <a:prstGeom prst="rect">
            <a:avLst/>
          </a:prstGeom>
          <a:noFill/>
        </p:spPr>
        <p:txBody>
          <a:bodyPr vert="horz" wrap="square" lIns="76200" tIns="50800" rIns="76200" bIns="50800" rtlCol="0">
            <a:spAutoFit/>
          </a:bodyPr>
          <a:lstStyle/>
          <a:p>
            <a:r>
              <a:rPr lang="en-US" smtClean="0">
                <a:solidFill>
                  <a:srgbClr val="222222"/>
                </a:solidFill>
                <a:latin typeface="Calibri" panose="020F0502020204030204" pitchFamily="34" charset="0"/>
              </a:rPr>
              <a:t>House prices depend on many numerical and categorical factors such as quality, area, age, garage, basement, and neighborhood. The goal is to build an ML pipeline that predicts SalePrice accurately and compares different learning approaches.</a:t>
            </a:r>
            <a:endParaRPr lang="en-IN">
              <a:solidFill>
                <a:srgbClr val="222222"/>
              </a:solidFill>
              <a:latin typeface="Calibri" panose="020F0502020204030204" pitchFamily="34" charset="0"/>
            </a:endParaRPr>
          </a:p>
        </p:txBody>
      </p:sp>
      <p:sp>
        <p:nvSpPr>
          <p:cNvPr id="7" name="Rounded Rectangle 6"/>
          <p:cNvSpPr/>
          <p:nvPr/>
        </p:nvSpPr>
        <p:spPr>
          <a:xfrm>
            <a:off x="635000" y="2921000"/>
            <a:ext cx="2159000" cy="381000"/>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736600" y="2971800"/>
            <a:ext cx="1955800" cy="318036"/>
          </a:xfrm>
          <a:prstGeom prst="rect">
            <a:avLst/>
          </a:prstGeom>
          <a:noFill/>
        </p:spPr>
        <p:txBody>
          <a:bodyPr vert="horz" wrap="square" lIns="76200" tIns="50800" rIns="76200" bIns="50800" rtlCol="0">
            <a:spAutoFit/>
          </a:bodyPr>
          <a:lstStyle/>
          <a:p>
            <a:r>
              <a:rPr lang="en-IN" sz="1400" b="1" smtClean="0">
                <a:solidFill>
                  <a:srgbClr val="FFFFFF"/>
                </a:solidFill>
                <a:latin typeface="Calibri" panose="020F0502020204030204" pitchFamily="34" charset="0"/>
              </a:rPr>
              <a:t>Objectives</a:t>
            </a:r>
            <a:endParaRPr lang="en-IN" sz="1400" b="1">
              <a:solidFill>
                <a:srgbClr val="FFFFFF"/>
              </a:solidFill>
              <a:latin typeface="Calibri" panose="020F0502020204030204" pitchFamily="34" charset="0"/>
            </a:endParaRPr>
          </a:p>
        </p:txBody>
      </p:sp>
      <p:sp>
        <p:nvSpPr>
          <p:cNvPr id="9" name="TextBox 8"/>
          <p:cNvSpPr txBox="1"/>
          <p:nvPr/>
        </p:nvSpPr>
        <p:spPr>
          <a:xfrm>
            <a:off x="787400" y="3530600"/>
            <a:ext cx="10160000" cy="2108269"/>
          </a:xfrm>
          <a:prstGeom prst="rect">
            <a:avLst/>
          </a:prstGeom>
          <a:noFill/>
        </p:spPr>
        <p:txBody>
          <a:bodyPr vert="horz" wrap="square" lIns="101600" tIns="76200" rIns="101600" bIns="76200" rtlCol="0">
            <a:spAutoFit/>
          </a:bodyPr>
          <a:lstStyle/>
          <a:p>
            <a:pPr marL="342900" indent="-342900">
              <a:spcAft>
                <a:spcPts val="600"/>
              </a:spcAft>
              <a:buFont typeface="+mj-lt"/>
              <a:buChar char="•"/>
            </a:pPr>
            <a:r>
              <a:rPr lang="en-IN" sz="1700" smtClean="0">
                <a:solidFill>
                  <a:srgbClr val="222222"/>
                </a:solidFill>
                <a:latin typeface="Calibri" panose="020F0502020204030204" pitchFamily="34" charset="0"/>
              </a:rPr>
              <a:t>Perform EDA and understand important price-related features</a:t>
            </a:r>
          </a:p>
          <a:p>
            <a:pPr marL="342900" indent="-342900">
              <a:spcAft>
                <a:spcPts val="600"/>
              </a:spcAft>
              <a:buFont typeface="+mj-lt"/>
              <a:buChar char="•"/>
            </a:pPr>
            <a:r>
              <a:rPr lang="en-IN" sz="1700" smtClean="0">
                <a:solidFill>
                  <a:srgbClr val="222222"/>
                </a:solidFill>
                <a:latin typeface="Calibri" panose="020F0502020204030204" pitchFamily="34" charset="0"/>
              </a:rPr>
              <a:t>Preprocess missing values, numerical columns, and categorical columns</a:t>
            </a:r>
          </a:p>
          <a:p>
            <a:pPr marL="342900" indent="-342900">
              <a:spcAft>
                <a:spcPts val="600"/>
              </a:spcAft>
              <a:buFont typeface="+mj-lt"/>
              <a:buChar char="•"/>
            </a:pPr>
            <a:r>
              <a:rPr lang="en-IN" sz="1700" smtClean="0">
                <a:solidFill>
                  <a:srgbClr val="222222"/>
                </a:solidFill>
                <a:latin typeface="Calibri" panose="020F0502020204030204" pitchFamily="34" charset="0"/>
              </a:rPr>
              <a:t>Engineer useful house-level features like TotalSF, TotalBath, and HouseAge</a:t>
            </a:r>
          </a:p>
          <a:p>
            <a:pPr marL="342900" indent="-342900">
              <a:spcAft>
                <a:spcPts val="600"/>
              </a:spcAft>
              <a:buFont typeface="+mj-lt"/>
              <a:buChar char="•"/>
            </a:pPr>
            <a:r>
              <a:rPr lang="en-IN" sz="1700" smtClean="0">
                <a:solidFill>
                  <a:srgbClr val="222222"/>
                </a:solidFill>
                <a:latin typeface="Calibri" panose="020F0502020204030204" pitchFamily="34" charset="0"/>
              </a:rPr>
              <a:t>Train and compare Linear Regression, Decision Tree, Random Forest, Gradient Boosting</a:t>
            </a:r>
          </a:p>
          <a:p>
            <a:pPr marL="342900" indent="-342900">
              <a:spcAft>
                <a:spcPts val="600"/>
              </a:spcAft>
              <a:buFont typeface="+mj-lt"/>
              <a:buChar char="•"/>
            </a:pPr>
            <a:r>
              <a:rPr lang="en-IN" sz="1700" smtClean="0">
                <a:solidFill>
                  <a:srgbClr val="222222"/>
                </a:solidFill>
                <a:latin typeface="Calibri" panose="020F0502020204030204" pitchFamily="34" charset="0"/>
              </a:rPr>
              <a:t>Use Voting and Stacking ensembles for better generalization</a:t>
            </a:r>
          </a:p>
          <a:p>
            <a:pPr marL="342900" indent="-342900">
              <a:spcAft>
                <a:spcPts val="600"/>
              </a:spcAft>
              <a:buFont typeface="+mj-lt"/>
              <a:buChar char="•"/>
            </a:pPr>
            <a:r>
              <a:rPr lang="en-IN" sz="1700" smtClean="0">
                <a:solidFill>
                  <a:srgbClr val="222222"/>
                </a:solidFill>
                <a:latin typeface="Calibri" panose="020F0502020204030204" pitchFamily="34" charset="0"/>
              </a:rPr>
              <a:t>Create final Kaggle-style predictions in submission_ensemble.csv</a:t>
            </a:r>
            <a:endParaRPr lang="en-IN" sz="1700">
              <a:solidFill>
                <a:srgbClr val="222222"/>
              </a:solidFill>
              <a:latin typeface="Calibri" panose="020F0502020204030204" pitchFamily="34" charset="0"/>
            </a:endParaRPr>
          </a:p>
        </p:txBody>
      </p:sp>
      <p:sp>
        <p:nvSpPr>
          <p:cNvPr id="10" name="TextBox 9"/>
          <p:cNvSpPr txBox="1"/>
          <p:nvPr/>
        </p:nvSpPr>
        <p:spPr>
          <a:xfrm>
            <a:off x="8763000" y="6451600"/>
            <a:ext cx="2921000" cy="241092"/>
          </a:xfrm>
          <a:prstGeom prst="rect">
            <a:avLst/>
          </a:prstGeom>
          <a:noFill/>
        </p:spPr>
        <p:txBody>
          <a:bodyPr vert="horz" wrap="square" lIns="76200" tIns="50800" rIns="76200" bIns="50800" rtlCol="0">
            <a:spAutoFit/>
          </a:bodyPr>
          <a:lstStyle/>
          <a:p>
            <a:pPr algn="r"/>
            <a:r>
              <a:rPr lang="en-US" sz="900" smtClean="0">
                <a:solidFill>
                  <a:srgbClr val="666666"/>
                </a:solidFill>
                <a:latin typeface="Calibri" panose="020F0502020204030204" pitchFamily="34" charset="0"/>
              </a:rPr>
              <a:t>House Price Prediction | Slide 2</a:t>
            </a:r>
            <a:endParaRPr lang="en-IN" sz="900">
              <a:solidFill>
                <a:srgbClr val="666666"/>
              </a:solidFill>
              <a:latin typeface="Calibri" panose="020F0502020204030204" pitchFamily="34" charset="0"/>
            </a:endParaRPr>
          </a:p>
        </p:txBody>
      </p:sp>
    </p:spTree>
    <p:extLst>
      <p:ext uri="{BB962C8B-B14F-4D97-AF65-F5344CB8AC3E}">
        <p14:creationId xmlns:p14="http://schemas.microsoft.com/office/powerpoint/2010/main" val="806419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63600"/>
          </a:xfrm>
          <a:prstGeom prst="rect">
            <a:avLst/>
          </a:prstGeom>
          <a:solidFill>
            <a:srgbClr val="0B1B2B"/>
          </a:solidFill>
          <a:ln>
            <a:solidFill>
              <a:srgbClr val="0B1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31800" y="152400"/>
            <a:ext cx="9144000" cy="487313"/>
          </a:xfrm>
          <a:prstGeom prst="rect">
            <a:avLst/>
          </a:prstGeom>
          <a:noFill/>
        </p:spPr>
        <p:txBody>
          <a:bodyPr vert="horz" wrap="square" lIns="76200" tIns="50800" rIns="76200" bIns="50800" rtlCol="0">
            <a:spAutoFit/>
          </a:bodyPr>
          <a:lstStyle/>
          <a:p>
            <a:r>
              <a:rPr lang="en-IN" sz="2500" b="1" smtClean="0">
                <a:solidFill>
                  <a:srgbClr val="FFFFFF"/>
                </a:solidFill>
                <a:latin typeface="Calibri" panose="020F0502020204030204" pitchFamily="34" charset="0"/>
              </a:rPr>
              <a:t>Data Description</a:t>
            </a:r>
            <a:endParaRPr lang="en-IN" sz="2500" b="1">
              <a:solidFill>
                <a:srgbClr val="FFFFFF"/>
              </a:solidFill>
              <a:latin typeface="Calibri" panose="020F0502020204030204" pitchFamily="34" charset="0"/>
            </a:endParaRPr>
          </a:p>
        </p:txBody>
      </p:sp>
      <p:sp>
        <p:nvSpPr>
          <p:cNvPr id="4" name="TextBox 3"/>
          <p:cNvSpPr txBox="1"/>
          <p:nvPr/>
        </p:nvSpPr>
        <p:spPr>
          <a:xfrm>
            <a:off x="9652000" y="215900"/>
            <a:ext cx="2032000" cy="287258"/>
          </a:xfrm>
          <a:prstGeom prst="rect">
            <a:avLst/>
          </a:prstGeom>
          <a:noFill/>
        </p:spPr>
        <p:txBody>
          <a:bodyPr vert="horz" wrap="square" lIns="76200" tIns="50800" rIns="76200" bIns="50800" rtlCol="0">
            <a:spAutoFit/>
          </a:bodyPr>
          <a:lstStyle/>
          <a:p>
            <a:pPr algn="r"/>
            <a:r>
              <a:rPr lang="en-IN" sz="1200" smtClean="0">
                <a:solidFill>
                  <a:srgbClr val="FFFFFF"/>
                </a:solidFill>
                <a:latin typeface="Calibri" panose="020F0502020204030204" pitchFamily="34" charset="0"/>
              </a:rPr>
              <a:t>Dataset</a:t>
            </a:r>
            <a:endParaRPr lang="en-IN" sz="1200">
              <a:solidFill>
                <a:srgbClr val="FFFFFF"/>
              </a:solidFill>
              <a:latin typeface="Calibri" panose="020F0502020204030204" pitchFamily="34" charset="0"/>
            </a:endParaRPr>
          </a:p>
        </p:txBody>
      </p:sp>
      <p:sp>
        <p:nvSpPr>
          <p:cNvPr id="5" name="Rounded Rectangle 4"/>
          <p:cNvSpPr/>
          <p:nvPr/>
        </p:nvSpPr>
        <p:spPr>
          <a:xfrm>
            <a:off x="635000" y="1168400"/>
            <a:ext cx="2032000" cy="381000"/>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736600" y="1219200"/>
            <a:ext cx="1828800" cy="318036"/>
          </a:xfrm>
          <a:prstGeom prst="rect">
            <a:avLst/>
          </a:prstGeom>
          <a:noFill/>
        </p:spPr>
        <p:txBody>
          <a:bodyPr vert="horz" wrap="square" lIns="76200" tIns="50800" rIns="76200" bIns="50800" rtlCol="0">
            <a:spAutoFit/>
          </a:bodyPr>
          <a:lstStyle/>
          <a:p>
            <a:r>
              <a:rPr lang="en-IN" sz="1400" b="1" smtClean="0">
                <a:solidFill>
                  <a:srgbClr val="FFFFFF"/>
                </a:solidFill>
                <a:latin typeface="Calibri" panose="020F0502020204030204" pitchFamily="34" charset="0"/>
              </a:rPr>
              <a:t>Dataset</a:t>
            </a:r>
            <a:endParaRPr lang="en-IN" sz="1400" b="1">
              <a:solidFill>
                <a:srgbClr val="FFFFFF"/>
              </a:solidFill>
              <a:latin typeface="Calibri" panose="020F0502020204030204" pitchFamily="34" charset="0"/>
            </a:endParaRPr>
          </a:p>
        </p:txBody>
      </p:sp>
      <p:sp>
        <p:nvSpPr>
          <p:cNvPr id="7" name="TextBox 6"/>
          <p:cNvSpPr txBox="1"/>
          <p:nvPr/>
        </p:nvSpPr>
        <p:spPr>
          <a:xfrm>
            <a:off x="762000" y="1727200"/>
            <a:ext cx="4953000" cy="2292935"/>
          </a:xfrm>
          <a:prstGeom prst="rect">
            <a:avLst/>
          </a:prstGeom>
          <a:noFill/>
        </p:spPr>
        <p:txBody>
          <a:bodyPr vert="horz" wrap="square" lIns="101600" tIns="76200" rIns="101600" bIns="76200" rtlCol="0">
            <a:spAutoFit/>
          </a:bodyPr>
          <a:lstStyle/>
          <a:p>
            <a:pPr marL="342900" indent="-342900">
              <a:spcAft>
                <a:spcPts val="600"/>
              </a:spcAft>
              <a:buFont typeface="+mj-lt"/>
              <a:buChar char="•"/>
            </a:pPr>
            <a:r>
              <a:rPr lang="en-US" sz="1700" smtClean="0">
                <a:solidFill>
                  <a:srgbClr val="222222"/>
                </a:solidFill>
                <a:latin typeface="Calibri" panose="020F0502020204030204" pitchFamily="34" charset="0"/>
              </a:rPr>
              <a:t>Source: Kaggle House Prices - Advanced Regression Techniques</a:t>
            </a:r>
          </a:p>
          <a:p>
            <a:pPr marL="342900" indent="-342900">
              <a:spcAft>
                <a:spcPts val="600"/>
              </a:spcAft>
              <a:buFont typeface="+mj-lt"/>
              <a:buChar char="•"/>
            </a:pPr>
            <a:r>
              <a:rPr lang="en-US" sz="1700" smtClean="0">
                <a:solidFill>
                  <a:srgbClr val="222222"/>
                </a:solidFill>
                <a:latin typeface="Calibri" panose="020F0502020204030204" pitchFamily="34" charset="0"/>
              </a:rPr>
              <a:t>Training data: 1460 rows and 81 columns</a:t>
            </a:r>
          </a:p>
          <a:p>
            <a:pPr marL="342900" indent="-342900">
              <a:spcAft>
                <a:spcPts val="600"/>
              </a:spcAft>
              <a:buFont typeface="+mj-lt"/>
              <a:buChar char="•"/>
            </a:pPr>
            <a:r>
              <a:rPr lang="en-US" sz="1700" smtClean="0">
                <a:solidFill>
                  <a:srgbClr val="222222"/>
                </a:solidFill>
                <a:latin typeface="Calibri" panose="020F0502020204030204" pitchFamily="34" charset="0"/>
              </a:rPr>
              <a:t>Test data: 1459 rows and 80 columns</a:t>
            </a:r>
          </a:p>
          <a:p>
            <a:pPr marL="342900" indent="-342900">
              <a:spcAft>
                <a:spcPts val="600"/>
              </a:spcAft>
              <a:buFont typeface="+mj-lt"/>
              <a:buChar char="•"/>
            </a:pPr>
            <a:r>
              <a:rPr lang="en-US" sz="1700" smtClean="0">
                <a:solidFill>
                  <a:srgbClr val="222222"/>
                </a:solidFill>
                <a:latin typeface="Calibri" panose="020F0502020204030204" pitchFamily="34" charset="0"/>
              </a:rPr>
              <a:t>Target variable: SalePrice</a:t>
            </a:r>
          </a:p>
          <a:p>
            <a:pPr marL="342900" indent="-342900">
              <a:spcAft>
                <a:spcPts val="600"/>
              </a:spcAft>
              <a:buFont typeface="+mj-lt"/>
              <a:buChar char="•"/>
            </a:pPr>
            <a:r>
              <a:rPr lang="en-US" sz="1700" smtClean="0">
                <a:solidFill>
                  <a:srgbClr val="222222"/>
                </a:solidFill>
                <a:latin typeface="Calibri" panose="020F0502020204030204" pitchFamily="34" charset="0"/>
              </a:rPr>
              <a:t>SalePrice was transformed using log1p for stable regression</a:t>
            </a:r>
            <a:endParaRPr lang="en-IN" sz="1700">
              <a:solidFill>
                <a:srgbClr val="222222"/>
              </a:solidFill>
              <a:latin typeface="Calibri" panose="020F0502020204030204" pitchFamily="34" charset="0"/>
            </a:endParaRPr>
          </a:p>
        </p:txBody>
      </p:sp>
      <p:sp>
        <p:nvSpPr>
          <p:cNvPr id="8" name="Rounded Rectangle 7"/>
          <p:cNvSpPr/>
          <p:nvPr/>
        </p:nvSpPr>
        <p:spPr>
          <a:xfrm>
            <a:off x="6350000" y="1168400"/>
            <a:ext cx="2667000" cy="381000"/>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6451600" y="1219200"/>
            <a:ext cx="2463800" cy="318036"/>
          </a:xfrm>
          <a:prstGeom prst="rect">
            <a:avLst/>
          </a:prstGeom>
          <a:noFill/>
        </p:spPr>
        <p:txBody>
          <a:bodyPr vert="horz" wrap="square" lIns="76200" tIns="50800" rIns="76200" bIns="50800" rtlCol="0">
            <a:spAutoFit/>
          </a:bodyPr>
          <a:lstStyle/>
          <a:p>
            <a:r>
              <a:rPr lang="en-IN" sz="1400" b="1" smtClean="0">
                <a:solidFill>
                  <a:srgbClr val="FFFFFF"/>
                </a:solidFill>
                <a:latin typeface="Calibri" panose="020F0502020204030204" pitchFamily="34" charset="0"/>
              </a:rPr>
              <a:t>Important Features</a:t>
            </a:r>
            <a:endParaRPr lang="en-IN" sz="1400" b="1">
              <a:solidFill>
                <a:srgbClr val="FFFFFF"/>
              </a:solidFill>
              <a:latin typeface="Calibri" panose="020F0502020204030204" pitchFamily="34" charset="0"/>
            </a:endParaRPr>
          </a:p>
        </p:txBody>
      </p:sp>
      <p:sp>
        <p:nvSpPr>
          <p:cNvPr id="10" name="TextBox 9"/>
          <p:cNvSpPr txBox="1"/>
          <p:nvPr/>
        </p:nvSpPr>
        <p:spPr>
          <a:xfrm>
            <a:off x="6477000" y="1727200"/>
            <a:ext cx="4826000" cy="2554545"/>
          </a:xfrm>
          <a:prstGeom prst="rect">
            <a:avLst/>
          </a:prstGeom>
          <a:noFill/>
        </p:spPr>
        <p:txBody>
          <a:bodyPr vert="horz" wrap="square" lIns="101600" tIns="76200" rIns="101600" bIns="76200" rtlCol="0">
            <a:spAutoFit/>
          </a:bodyPr>
          <a:lstStyle/>
          <a:p>
            <a:pPr marL="342900" indent="-342900">
              <a:spcAft>
                <a:spcPts val="600"/>
              </a:spcAft>
              <a:buFont typeface="+mj-lt"/>
              <a:buChar char="•"/>
            </a:pPr>
            <a:r>
              <a:rPr lang="en-US" sz="1700" smtClean="0">
                <a:solidFill>
                  <a:srgbClr val="222222"/>
                </a:solidFill>
                <a:latin typeface="Calibri" panose="020F0502020204030204" pitchFamily="34" charset="0"/>
              </a:rPr>
              <a:t>OverallQual: overall material and finish quality</a:t>
            </a:r>
          </a:p>
          <a:p>
            <a:pPr marL="342900" indent="-342900">
              <a:spcAft>
                <a:spcPts val="600"/>
              </a:spcAft>
              <a:buFont typeface="+mj-lt"/>
              <a:buChar char="•"/>
            </a:pPr>
            <a:r>
              <a:rPr lang="en-US" sz="1700" smtClean="0">
                <a:solidFill>
                  <a:srgbClr val="222222"/>
                </a:solidFill>
                <a:latin typeface="Calibri" panose="020F0502020204030204" pitchFamily="34" charset="0"/>
              </a:rPr>
              <a:t>TotalSF / GrLivArea: total and above-ground living area</a:t>
            </a:r>
          </a:p>
          <a:p>
            <a:pPr marL="342900" indent="-342900">
              <a:spcAft>
                <a:spcPts val="600"/>
              </a:spcAft>
              <a:buFont typeface="+mj-lt"/>
              <a:buChar char="•"/>
            </a:pPr>
            <a:r>
              <a:rPr lang="en-US" sz="1700" smtClean="0">
                <a:solidFill>
                  <a:srgbClr val="222222"/>
                </a:solidFill>
                <a:latin typeface="Calibri" panose="020F0502020204030204" pitchFamily="34" charset="0"/>
              </a:rPr>
              <a:t>GarageCars / GarageArea: garage capacity and size</a:t>
            </a:r>
          </a:p>
          <a:p>
            <a:pPr marL="342900" indent="-342900">
              <a:spcAft>
                <a:spcPts val="600"/>
              </a:spcAft>
              <a:buFont typeface="+mj-lt"/>
              <a:buChar char="•"/>
            </a:pPr>
            <a:r>
              <a:rPr lang="en-US" sz="1700" smtClean="0">
                <a:solidFill>
                  <a:srgbClr val="222222"/>
                </a:solidFill>
                <a:latin typeface="Calibri" panose="020F0502020204030204" pitchFamily="34" charset="0"/>
              </a:rPr>
              <a:t>TotalBath: combined bath count</a:t>
            </a:r>
          </a:p>
          <a:p>
            <a:pPr marL="342900" indent="-342900">
              <a:spcAft>
                <a:spcPts val="600"/>
              </a:spcAft>
              <a:buFont typeface="+mj-lt"/>
              <a:buChar char="•"/>
            </a:pPr>
            <a:r>
              <a:rPr lang="en-US" sz="1700" smtClean="0">
                <a:solidFill>
                  <a:srgbClr val="222222"/>
                </a:solidFill>
                <a:latin typeface="Calibri" panose="020F0502020204030204" pitchFamily="34" charset="0"/>
              </a:rPr>
              <a:t>YearBuilt and YearRemodAdd: age and renovation information</a:t>
            </a:r>
            <a:endParaRPr lang="en-IN" sz="1700">
              <a:solidFill>
                <a:srgbClr val="222222"/>
              </a:solidFill>
              <a:latin typeface="Calibri" panose="020F0502020204030204" pitchFamily="34" charset="0"/>
            </a:endParaRPr>
          </a:p>
        </p:txBody>
      </p:sp>
      <p:sp>
        <p:nvSpPr>
          <p:cNvPr id="11" name="Rounded Rectangle 10"/>
          <p:cNvSpPr/>
          <p:nvPr/>
        </p:nvSpPr>
        <p:spPr>
          <a:xfrm>
            <a:off x="952500" y="4254500"/>
            <a:ext cx="10287000" cy="1143000"/>
          </a:xfrm>
          <a:prstGeom prst="roundRect">
            <a:avLst/>
          </a:prstGeom>
          <a:solidFill>
            <a:srgbClr val="F7F7F7"/>
          </a:solidFill>
          <a:ln>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p:cNvSpPr txBox="1"/>
          <p:nvPr/>
        </p:nvSpPr>
        <p:spPr>
          <a:xfrm>
            <a:off x="1333500" y="4445000"/>
            <a:ext cx="4064000" cy="379591"/>
          </a:xfrm>
          <a:prstGeom prst="rect">
            <a:avLst/>
          </a:prstGeom>
          <a:noFill/>
        </p:spPr>
        <p:txBody>
          <a:bodyPr vert="horz" wrap="square" lIns="76200" tIns="50800" rIns="76200" bIns="50800" rtlCol="0">
            <a:spAutoFit/>
          </a:bodyPr>
          <a:lstStyle/>
          <a:p>
            <a:r>
              <a:rPr lang="en-IN" b="1" smtClean="0">
                <a:solidFill>
                  <a:srgbClr val="0B1B2B"/>
                </a:solidFill>
                <a:latin typeface="Calibri" panose="020F0502020204030204" pitchFamily="34" charset="0"/>
              </a:rPr>
              <a:t>Top Correlations with SalePrice</a:t>
            </a:r>
            <a:endParaRPr lang="en-IN" b="1">
              <a:solidFill>
                <a:srgbClr val="0B1B2B"/>
              </a:solidFill>
              <a:latin typeface="Calibri" panose="020F0502020204030204" pitchFamily="34" charset="0"/>
            </a:endParaRPr>
          </a:p>
        </p:txBody>
      </p:sp>
      <p:sp>
        <p:nvSpPr>
          <p:cNvPr id="13" name="TextBox 12"/>
          <p:cNvSpPr txBox="1"/>
          <p:nvPr/>
        </p:nvSpPr>
        <p:spPr>
          <a:xfrm>
            <a:off x="1333500" y="4889500"/>
            <a:ext cx="9144000" cy="348813"/>
          </a:xfrm>
          <a:prstGeom prst="rect">
            <a:avLst/>
          </a:prstGeom>
          <a:noFill/>
        </p:spPr>
        <p:txBody>
          <a:bodyPr vert="horz" wrap="square" lIns="76200" tIns="50800" rIns="76200" bIns="50800" rtlCol="0">
            <a:spAutoFit/>
          </a:bodyPr>
          <a:lstStyle/>
          <a:p>
            <a:r>
              <a:rPr lang="en-IN" sz="1600" smtClean="0">
                <a:solidFill>
                  <a:srgbClr val="222222"/>
                </a:solidFill>
                <a:latin typeface="Calibri" panose="020F0502020204030204" pitchFamily="34" charset="0"/>
              </a:rPr>
              <a:t>OverallQual 0.791   |   TotalSF 0.782   |   GrLivArea 0.709   |   GarageCars 0.640   |   TotalBath 0.632</a:t>
            </a:r>
            <a:endParaRPr lang="en-IN" sz="1600">
              <a:solidFill>
                <a:srgbClr val="222222"/>
              </a:solidFill>
              <a:latin typeface="Calibri" panose="020F0502020204030204" pitchFamily="34" charset="0"/>
            </a:endParaRPr>
          </a:p>
        </p:txBody>
      </p:sp>
      <p:sp>
        <p:nvSpPr>
          <p:cNvPr id="14" name="TextBox 13"/>
          <p:cNvSpPr txBox="1"/>
          <p:nvPr/>
        </p:nvSpPr>
        <p:spPr>
          <a:xfrm>
            <a:off x="8763000" y="6451600"/>
            <a:ext cx="2921000" cy="241092"/>
          </a:xfrm>
          <a:prstGeom prst="rect">
            <a:avLst/>
          </a:prstGeom>
          <a:noFill/>
        </p:spPr>
        <p:txBody>
          <a:bodyPr vert="horz" wrap="square" lIns="76200" tIns="50800" rIns="76200" bIns="50800" rtlCol="0">
            <a:spAutoFit/>
          </a:bodyPr>
          <a:lstStyle/>
          <a:p>
            <a:pPr algn="r"/>
            <a:r>
              <a:rPr lang="en-US" sz="900" smtClean="0">
                <a:solidFill>
                  <a:srgbClr val="666666"/>
                </a:solidFill>
                <a:latin typeface="Calibri" panose="020F0502020204030204" pitchFamily="34" charset="0"/>
              </a:rPr>
              <a:t>House Price Prediction | Slide 3</a:t>
            </a:r>
            <a:endParaRPr lang="en-IN" sz="900">
              <a:solidFill>
                <a:srgbClr val="666666"/>
              </a:solidFill>
              <a:latin typeface="Calibri" panose="020F0502020204030204" pitchFamily="34" charset="0"/>
            </a:endParaRPr>
          </a:p>
        </p:txBody>
      </p:sp>
    </p:spTree>
    <p:extLst>
      <p:ext uri="{BB962C8B-B14F-4D97-AF65-F5344CB8AC3E}">
        <p14:creationId xmlns:p14="http://schemas.microsoft.com/office/powerpoint/2010/main" val="3893625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63600"/>
          </a:xfrm>
          <a:prstGeom prst="rect">
            <a:avLst/>
          </a:prstGeom>
          <a:solidFill>
            <a:srgbClr val="0B1B2B"/>
          </a:solidFill>
          <a:ln>
            <a:solidFill>
              <a:srgbClr val="0B1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31800" y="152400"/>
            <a:ext cx="9144000" cy="487313"/>
          </a:xfrm>
          <a:prstGeom prst="rect">
            <a:avLst/>
          </a:prstGeom>
          <a:noFill/>
        </p:spPr>
        <p:txBody>
          <a:bodyPr vert="horz" wrap="square" lIns="76200" tIns="50800" rIns="76200" bIns="50800" rtlCol="0">
            <a:spAutoFit/>
          </a:bodyPr>
          <a:lstStyle/>
          <a:p>
            <a:r>
              <a:rPr lang="en-IN" sz="2500" b="1" smtClean="0">
                <a:solidFill>
                  <a:srgbClr val="FFFFFF"/>
                </a:solidFill>
                <a:latin typeface="Calibri" panose="020F0502020204030204" pitchFamily="34" charset="0"/>
              </a:rPr>
              <a:t>Preprocessing &amp; Feature Engineering</a:t>
            </a:r>
            <a:endParaRPr lang="en-IN" sz="2500" b="1">
              <a:solidFill>
                <a:srgbClr val="FFFFFF"/>
              </a:solidFill>
              <a:latin typeface="Calibri" panose="020F0502020204030204" pitchFamily="34" charset="0"/>
            </a:endParaRPr>
          </a:p>
        </p:txBody>
      </p:sp>
      <p:sp>
        <p:nvSpPr>
          <p:cNvPr id="4" name="TextBox 3"/>
          <p:cNvSpPr txBox="1"/>
          <p:nvPr/>
        </p:nvSpPr>
        <p:spPr>
          <a:xfrm>
            <a:off x="9652000" y="215900"/>
            <a:ext cx="2032000" cy="287258"/>
          </a:xfrm>
          <a:prstGeom prst="rect">
            <a:avLst/>
          </a:prstGeom>
          <a:noFill/>
        </p:spPr>
        <p:txBody>
          <a:bodyPr vert="horz" wrap="square" lIns="76200" tIns="50800" rIns="76200" bIns="50800" rtlCol="0">
            <a:spAutoFit/>
          </a:bodyPr>
          <a:lstStyle/>
          <a:p>
            <a:pPr algn="r"/>
            <a:r>
              <a:rPr lang="en-IN" sz="1200" smtClean="0">
                <a:solidFill>
                  <a:srgbClr val="FFFFFF"/>
                </a:solidFill>
                <a:latin typeface="Calibri" panose="020F0502020204030204" pitchFamily="34" charset="0"/>
              </a:rPr>
              <a:t>Pipeline</a:t>
            </a:r>
            <a:endParaRPr lang="en-IN" sz="1200">
              <a:solidFill>
                <a:srgbClr val="FFFFFF"/>
              </a:solidFill>
              <a:latin typeface="Calibri" panose="020F0502020204030204" pitchFamily="34" charset="0"/>
            </a:endParaRPr>
          </a:p>
        </p:txBody>
      </p:sp>
      <p:sp>
        <p:nvSpPr>
          <p:cNvPr id="5" name="Rounded Rectangle 4"/>
          <p:cNvSpPr/>
          <p:nvPr/>
        </p:nvSpPr>
        <p:spPr>
          <a:xfrm>
            <a:off x="635000" y="1193800"/>
            <a:ext cx="2413000" cy="381000"/>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736600" y="1244600"/>
            <a:ext cx="2209800" cy="318036"/>
          </a:xfrm>
          <a:prstGeom prst="rect">
            <a:avLst/>
          </a:prstGeom>
          <a:noFill/>
        </p:spPr>
        <p:txBody>
          <a:bodyPr vert="horz" wrap="square" lIns="76200" tIns="50800" rIns="76200" bIns="50800" rtlCol="0">
            <a:spAutoFit/>
          </a:bodyPr>
          <a:lstStyle/>
          <a:p>
            <a:r>
              <a:rPr lang="en-IN" sz="1400" b="1" smtClean="0">
                <a:solidFill>
                  <a:srgbClr val="FFFFFF"/>
                </a:solidFill>
                <a:latin typeface="Calibri" panose="020F0502020204030204" pitchFamily="34" charset="0"/>
              </a:rPr>
              <a:t>Preprocessing</a:t>
            </a:r>
            <a:endParaRPr lang="en-IN" sz="1400" b="1">
              <a:solidFill>
                <a:srgbClr val="FFFFFF"/>
              </a:solidFill>
              <a:latin typeface="Calibri" panose="020F0502020204030204" pitchFamily="34" charset="0"/>
            </a:endParaRPr>
          </a:p>
        </p:txBody>
      </p:sp>
      <p:sp>
        <p:nvSpPr>
          <p:cNvPr id="7" name="TextBox 6"/>
          <p:cNvSpPr txBox="1"/>
          <p:nvPr/>
        </p:nvSpPr>
        <p:spPr>
          <a:xfrm>
            <a:off x="762000" y="1803400"/>
            <a:ext cx="4953000" cy="2893100"/>
          </a:xfrm>
          <a:prstGeom prst="rect">
            <a:avLst/>
          </a:prstGeom>
          <a:noFill/>
        </p:spPr>
        <p:txBody>
          <a:bodyPr vert="horz" wrap="square" lIns="101600" tIns="76200" rIns="101600" bIns="76200" rtlCol="0">
            <a:spAutoFit/>
          </a:bodyPr>
          <a:lstStyle/>
          <a:p>
            <a:pPr marL="342900" indent="-342900">
              <a:spcAft>
                <a:spcPts val="600"/>
              </a:spcAft>
              <a:buFont typeface="+mj-lt"/>
              <a:buChar char="•"/>
            </a:pPr>
            <a:r>
              <a:rPr lang="en-US" sz="1700" smtClean="0">
                <a:solidFill>
                  <a:srgbClr val="222222"/>
                </a:solidFill>
                <a:latin typeface="Calibri" panose="020F0502020204030204" pitchFamily="34" charset="0"/>
              </a:rPr>
              <a:t>Checked missing values and saved missing_values.csv</a:t>
            </a:r>
          </a:p>
          <a:p>
            <a:pPr marL="342900" indent="-342900">
              <a:spcAft>
                <a:spcPts val="600"/>
              </a:spcAft>
              <a:buFont typeface="+mj-lt"/>
              <a:buChar char="•"/>
            </a:pPr>
            <a:r>
              <a:rPr lang="en-US" sz="1700" smtClean="0">
                <a:solidFill>
                  <a:srgbClr val="222222"/>
                </a:solidFill>
                <a:latin typeface="Calibri" panose="020F0502020204030204" pitchFamily="34" charset="0"/>
              </a:rPr>
              <a:t>Filled absence-based area/count columns with 0</a:t>
            </a:r>
          </a:p>
          <a:p>
            <a:pPr marL="342900" indent="-342900">
              <a:spcAft>
                <a:spcPts val="600"/>
              </a:spcAft>
              <a:buFont typeface="+mj-lt"/>
              <a:buChar char="•"/>
            </a:pPr>
            <a:r>
              <a:rPr lang="en-US" sz="1700" smtClean="0">
                <a:solidFill>
                  <a:srgbClr val="222222"/>
                </a:solidFill>
                <a:latin typeface="Calibri" panose="020F0502020204030204" pitchFamily="34" charset="0"/>
              </a:rPr>
              <a:t>Applied median imputation for numerical features</a:t>
            </a:r>
          </a:p>
          <a:p>
            <a:pPr marL="342900" indent="-342900">
              <a:spcAft>
                <a:spcPts val="600"/>
              </a:spcAft>
              <a:buFont typeface="+mj-lt"/>
              <a:buChar char="•"/>
            </a:pPr>
            <a:r>
              <a:rPr lang="en-US" sz="1700" smtClean="0">
                <a:solidFill>
                  <a:srgbClr val="222222"/>
                </a:solidFill>
                <a:latin typeface="Calibri" panose="020F0502020204030204" pitchFamily="34" charset="0"/>
              </a:rPr>
              <a:t>Applied most-frequent imputation for categorical features</a:t>
            </a:r>
          </a:p>
          <a:p>
            <a:pPr marL="342900" indent="-342900">
              <a:spcAft>
                <a:spcPts val="600"/>
              </a:spcAft>
              <a:buFont typeface="+mj-lt"/>
              <a:buChar char="•"/>
            </a:pPr>
            <a:r>
              <a:rPr lang="en-US" sz="1700" smtClean="0">
                <a:solidFill>
                  <a:srgbClr val="222222"/>
                </a:solidFill>
                <a:latin typeface="Calibri" panose="020F0502020204030204" pitchFamily="34" charset="0"/>
              </a:rPr>
              <a:t>Scaled numerical columns using StandardScaler</a:t>
            </a:r>
          </a:p>
          <a:p>
            <a:pPr marL="342900" indent="-342900">
              <a:spcAft>
                <a:spcPts val="600"/>
              </a:spcAft>
              <a:buFont typeface="+mj-lt"/>
              <a:buChar char="•"/>
            </a:pPr>
            <a:r>
              <a:rPr lang="en-US" sz="1700" smtClean="0">
                <a:solidFill>
                  <a:srgbClr val="222222"/>
                </a:solidFill>
                <a:latin typeface="Calibri" panose="020F0502020204030204" pitchFamily="34" charset="0"/>
              </a:rPr>
              <a:t>Encoded categorical columns using OneHotEncoder</a:t>
            </a:r>
            <a:endParaRPr lang="en-IN" sz="1700">
              <a:solidFill>
                <a:srgbClr val="222222"/>
              </a:solidFill>
              <a:latin typeface="Calibri" panose="020F0502020204030204" pitchFamily="34" charset="0"/>
            </a:endParaRPr>
          </a:p>
        </p:txBody>
      </p:sp>
      <p:sp>
        <p:nvSpPr>
          <p:cNvPr id="8" name="Rounded Rectangle 7"/>
          <p:cNvSpPr/>
          <p:nvPr/>
        </p:nvSpPr>
        <p:spPr>
          <a:xfrm>
            <a:off x="6477000" y="1193800"/>
            <a:ext cx="2921000" cy="381000"/>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6578600" y="1244600"/>
            <a:ext cx="2717800" cy="318036"/>
          </a:xfrm>
          <a:prstGeom prst="rect">
            <a:avLst/>
          </a:prstGeom>
          <a:noFill/>
        </p:spPr>
        <p:txBody>
          <a:bodyPr vert="horz" wrap="square" lIns="76200" tIns="50800" rIns="76200" bIns="50800" rtlCol="0">
            <a:spAutoFit/>
          </a:bodyPr>
          <a:lstStyle/>
          <a:p>
            <a:r>
              <a:rPr lang="en-IN" sz="1400" b="1" smtClean="0">
                <a:solidFill>
                  <a:srgbClr val="FFFFFF"/>
                </a:solidFill>
                <a:latin typeface="Calibri" panose="020F0502020204030204" pitchFamily="34" charset="0"/>
              </a:rPr>
              <a:t>Feature Engineering</a:t>
            </a:r>
            <a:endParaRPr lang="en-IN" sz="1400" b="1">
              <a:solidFill>
                <a:srgbClr val="FFFFFF"/>
              </a:solidFill>
              <a:latin typeface="Calibri" panose="020F0502020204030204" pitchFamily="34" charset="0"/>
            </a:endParaRPr>
          </a:p>
        </p:txBody>
      </p:sp>
      <p:sp>
        <p:nvSpPr>
          <p:cNvPr id="10" name="TextBox 9"/>
          <p:cNvSpPr txBox="1"/>
          <p:nvPr/>
        </p:nvSpPr>
        <p:spPr>
          <a:xfrm>
            <a:off x="6604000" y="1803400"/>
            <a:ext cx="4953000" cy="2893100"/>
          </a:xfrm>
          <a:prstGeom prst="rect">
            <a:avLst/>
          </a:prstGeom>
          <a:noFill/>
        </p:spPr>
        <p:txBody>
          <a:bodyPr vert="horz" wrap="square" lIns="101600" tIns="76200" rIns="101600" bIns="76200" rtlCol="0">
            <a:spAutoFit/>
          </a:bodyPr>
          <a:lstStyle/>
          <a:p>
            <a:pPr marL="342900" indent="-342900">
              <a:spcAft>
                <a:spcPts val="600"/>
              </a:spcAft>
              <a:buFont typeface="+mj-lt"/>
              <a:buChar char="•"/>
            </a:pPr>
            <a:r>
              <a:rPr lang="en-IN" sz="1700" smtClean="0">
                <a:solidFill>
                  <a:srgbClr val="222222"/>
                </a:solidFill>
                <a:latin typeface="Calibri" panose="020F0502020204030204" pitchFamily="34" charset="0"/>
              </a:rPr>
              <a:t>TotalSF = basement + first floor + second floor area</a:t>
            </a:r>
          </a:p>
          <a:p>
            <a:pPr marL="342900" indent="-342900">
              <a:spcAft>
                <a:spcPts val="600"/>
              </a:spcAft>
              <a:buFont typeface="+mj-lt"/>
              <a:buChar char="•"/>
            </a:pPr>
            <a:r>
              <a:rPr lang="en-IN" sz="1700" smtClean="0">
                <a:solidFill>
                  <a:srgbClr val="222222"/>
                </a:solidFill>
                <a:latin typeface="Calibri" panose="020F0502020204030204" pitchFamily="34" charset="0"/>
              </a:rPr>
              <a:t>TotalBath = full/half bath + basement bath combination</a:t>
            </a:r>
          </a:p>
          <a:p>
            <a:pPr marL="342900" indent="-342900">
              <a:spcAft>
                <a:spcPts val="600"/>
              </a:spcAft>
              <a:buFont typeface="+mj-lt"/>
              <a:buChar char="•"/>
            </a:pPr>
            <a:r>
              <a:rPr lang="en-IN" sz="1700" smtClean="0">
                <a:solidFill>
                  <a:srgbClr val="222222"/>
                </a:solidFill>
                <a:latin typeface="Calibri" panose="020F0502020204030204" pitchFamily="34" charset="0"/>
              </a:rPr>
              <a:t>TotalPorchSF = deck and porch areas combined</a:t>
            </a:r>
          </a:p>
          <a:p>
            <a:pPr marL="342900" indent="-342900">
              <a:spcAft>
                <a:spcPts val="600"/>
              </a:spcAft>
              <a:buFont typeface="+mj-lt"/>
              <a:buChar char="•"/>
            </a:pPr>
            <a:r>
              <a:rPr lang="en-IN" sz="1700" smtClean="0">
                <a:solidFill>
                  <a:srgbClr val="222222"/>
                </a:solidFill>
                <a:latin typeface="Calibri" panose="020F0502020204030204" pitchFamily="34" charset="0"/>
              </a:rPr>
              <a:t>HouseAge = YrSold - YearBuilt</a:t>
            </a:r>
          </a:p>
          <a:p>
            <a:pPr marL="342900" indent="-342900">
              <a:spcAft>
                <a:spcPts val="600"/>
              </a:spcAft>
              <a:buFont typeface="+mj-lt"/>
              <a:buChar char="•"/>
            </a:pPr>
            <a:r>
              <a:rPr lang="en-IN" sz="1700" smtClean="0">
                <a:solidFill>
                  <a:srgbClr val="222222"/>
                </a:solidFill>
                <a:latin typeface="Calibri" panose="020F0502020204030204" pitchFamily="34" charset="0"/>
              </a:rPr>
              <a:t>RemodelAge = YrSold - YearRemodAdd</a:t>
            </a:r>
          </a:p>
          <a:p>
            <a:pPr marL="342900" indent="-342900">
              <a:spcAft>
                <a:spcPts val="600"/>
              </a:spcAft>
              <a:buFont typeface="+mj-lt"/>
              <a:buChar char="•"/>
            </a:pPr>
            <a:r>
              <a:rPr lang="en-IN" sz="1700" smtClean="0">
                <a:solidFill>
                  <a:srgbClr val="222222"/>
                </a:solidFill>
                <a:latin typeface="Calibri" panose="020F0502020204030204" pitchFamily="34" charset="0"/>
              </a:rPr>
              <a:t>Flags: HasGarage, HasBasement, HasPool, HasSecondFloor</a:t>
            </a:r>
            <a:endParaRPr lang="en-IN" sz="1700">
              <a:solidFill>
                <a:srgbClr val="222222"/>
              </a:solidFill>
              <a:latin typeface="Calibri" panose="020F0502020204030204" pitchFamily="34" charset="0"/>
            </a:endParaRPr>
          </a:p>
        </p:txBody>
      </p:sp>
      <p:sp>
        <p:nvSpPr>
          <p:cNvPr id="11" name="TextBox 10"/>
          <p:cNvSpPr txBox="1"/>
          <p:nvPr/>
        </p:nvSpPr>
        <p:spPr>
          <a:xfrm>
            <a:off x="8763000" y="6451600"/>
            <a:ext cx="2921000" cy="241092"/>
          </a:xfrm>
          <a:prstGeom prst="rect">
            <a:avLst/>
          </a:prstGeom>
          <a:noFill/>
        </p:spPr>
        <p:txBody>
          <a:bodyPr vert="horz" wrap="square" lIns="76200" tIns="50800" rIns="76200" bIns="50800" rtlCol="0">
            <a:spAutoFit/>
          </a:bodyPr>
          <a:lstStyle/>
          <a:p>
            <a:pPr algn="r"/>
            <a:r>
              <a:rPr lang="en-US" sz="900" smtClean="0">
                <a:solidFill>
                  <a:srgbClr val="666666"/>
                </a:solidFill>
                <a:latin typeface="Calibri" panose="020F0502020204030204" pitchFamily="34" charset="0"/>
              </a:rPr>
              <a:t>House Price Prediction | Slide 4</a:t>
            </a:r>
            <a:endParaRPr lang="en-IN" sz="900">
              <a:solidFill>
                <a:srgbClr val="666666"/>
              </a:solidFill>
              <a:latin typeface="Calibri" panose="020F0502020204030204" pitchFamily="34" charset="0"/>
            </a:endParaRPr>
          </a:p>
        </p:txBody>
      </p:sp>
    </p:spTree>
    <p:extLst>
      <p:ext uri="{BB962C8B-B14F-4D97-AF65-F5344CB8AC3E}">
        <p14:creationId xmlns:p14="http://schemas.microsoft.com/office/powerpoint/2010/main" val="56976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63600"/>
          </a:xfrm>
          <a:prstGeom prst="rect">
            <a:avLst/>
          </a:prstGeom>
          <a:solidFill>
            <a:srgbClr val="0B1B2B"/>
          </a:solidFill>
          <a:ln>
            <a:solidFill>
              <a:srgbClr val="0B1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31800" y="152400"/>
            <a:ext cx="9144000" cy="487313"/>
          </a:xfrm>
          <a:prstGeom prst="rect">
            <a:avLst/>
          </a:prstGeom>
          <a:noFill/>
        </p:spPr>
        <p:txBody>
          <a:bodyPr vert="horz" wrap="square" lIns="76200" tIns="50800" rIns="76200" bIns="50800" rtlCol="0">
            <a:spAutoFit/>
          </a:bodyPr>
          <a:lstStyle/>
          <a:p>
            <a:r>
              <a:rPr lang="en-IN" sz="2500" b="1" smtClean="0">
                <a:solidFill>
                  <a:srgbClr val="FFFFFF"/>
                </a:solidFill>
                <a:latin typeface="Calibri" panose="020F0502020204030204" pitchFamily="34" charset="0"/>
              </a:rPr>
              <a:t>Project Pipeline Flow</a:t>
            </a:r>
            <a:endParaRPr lang="en-IN" sz="2500" b="1">
              <a:solidFill>
                <a:srgbClr val="FFFFFF"/>
              </a:solidFill>
              <a:latin typeface="Calibri" panose="020F0502020204030204" pitchFamily="34" charset="0"/>
            </a:endParaRPr>
          </a:p>
        </p:txBody>
      </p:sp>
      <p:sp>
        <p:nvSpPr>
          <p:cNvPr id="4" name="TextBox 3"/>
          <p:cNvSpPr txBox="1"/>
          <p:nvPr/>
        </p:nvSpPr>
        <p:spPr>
          <a:xfrm>
            <a:off x="9652000" y="215900"/>
            <a:ext cx="2032000" cy="287258"/>
          </a:xfrm>
          <a:prstGeom prst="rect">
            <a:avLst/>
          </a:prstGeom>
          <a:noFill/>
        </p:spPr>
        <p:txBody>
          <a:bodyPr vert="horz" wrap="square" lIns="76200" tIns="50800" rIns="76200" bIns="50800" rtlCol="0">
            <a:spAutoFit/>
          </a:bodyPr>
          <a:lstStyle/>
          <a:p>
            <a:pPr algn="r"/>
            <a:r>
              <a:rPr lang="en-IN" sz="1200" smtClean="0">
                <a:solidFill>
                  <a:srgbClr val="FFFFFF"/>
                </a:solidFill>
                <a:latin typeface="Calibri" panose="020F0502020204030204" pitchFamily="34" charset="0"/>
              </a:rPr>
              <a:t>Workflow</a:t>
            </a:r>
            <a:endParaRPr lang="en-IN" sz="1200">
              <a:solidFill>
                <a:srgbClr val="FFFFFF"/>
              </a:solidFill>
              <a:latin typeface="Calibri" panose="020F0502020204030204" pitchFamily="34" charset="0"/>
            </a:endParaRPr>
          </a:p>
        </p:txBody>
      </p:sp>
      <p:sp>
        <p:nvSpPr>
          <p:cNvPr id="5" name="Rounded Rectangle 4"/>
          <p:cNvSpPr/>
          <p:nvPr/>
        </p:nvSpPr>
        <p:spPr>
          <a:xfrm>
            <a:off x="698500" y="1460500"/>
            <a:ext cx="3175000" cy="1587500"/>
          </a:xfrm>
          <a:prstGeom prst="roundRect">
            <a:avLst/>
          </a:prstGeom>
          <a:solidFill>
            <a:srgbClr val="F7F7F7"/>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927100" y="1689100"/>
            <a:ext cx="2667000" cy="379591"/>
          </a:xfrm>
          <a:prstGeom prst="rect">
            <a:avLst/>
          </a:prstGeom>
          <a:noFill/>
        </p:spPr>
        <p:txBody>
          <a:bodyPr vert="horz" wrap="square" lIns="76200" tIns="50800" rIns="76200" bIns="50800" rtlCol="0">
            <a:spAutoFit/>
          </a:bodyPr>
          <a:lstStyle/>
          <a:p>
            <a:r>
              <a:rPr lang="en-IN" b="1" smtClean="0">
                <a:solidFill>
                  <a:srgbClr val="0B1B2B"/>
                </a:solidFill>
                <a:latin typeface="Calibri" panose="020F0502020204030204" pitchFamily="34" charset="0"/>
              </a:rPr>
              <a:t>1. Data Input</a:t>
            </a:r>
            <a:endParaRPr lang="en-IN" b="1">
              <a:solidFill>
                <a:srgbClr val="0B1B2B"/>
              </a:solidFill>
              <a:latin typeface="Calibri" panose="020F0502020204030204" pitchFamily="34" charset="0"/>
            </a:endParaRPr>
          </a:p>
        </p:txBody>
      </p:sp>
      <p:sp>
        <p:nvSpPr>
          <p:cNvPr id="7" name="TextBox 6"/>
          <p:cNvSpPr txBox="1"/>
          <p:nvPr/>
        </p:nvSpPr>
        <p:spPr>
          <a:xfrm>
            <a:off x="927100" y="2146300"/>
            <a:ext cx="2667000" cy="333425"/>
          </a:xfrm>
          <a:prstGeom prst="rect">
            <a:avLst/>
          </a:prstGeom>
          <a:noFill/>
        </p:spPr>
        <p:txBody>
          <a:bodyPr vert="horz" wrap="square" lIns="76200" tIns="50800" rIns="76200" bIns="50800" rtlCol="0">
            <a:spAutoFit/>
          </a:bodyPr>
          <a:lstStyle/>
          <a:p>
            <a:r>
              <a:rPr lang="en-IN" sz="1500" smtClean="0">
                <a:solidFill>
                  <a:srgbClr val="222222"/>
                </a:solidFill>
                <a:latin typeface="Calibri" panose="020F0502020204030204" pitchFamily="34" charset="0"/>
              </a:rPr>
              <a:t>Load train.csv and test.csv</a:t>
            </a:r>
            <a:endParaRPr lang="en-IN" sz="1500">
              <a:solidFill>
                <a:srgbClr val="222222"/>
              </a:solidFill>
              <a:latin typeface="Calibri" panose="020F0502020204030204" pitchFamily="34" charset="0"/>
            </a:endParaRPr>
          </a:p>
        </p:txBody>
      </p:sp>
      <p:sp>
        <p:nvSpPr>
          <p:cNvPr id="8" name="Rounded Rectangle 7"/>
          <p:cNvSpPr/>
          <p:nvPr/>
        </p:nvSpPr>
        <p:spPr>
          <a:xfrm>
            <a:off x="4508500" y="1460500"/>
            <a:ext cx="3175000" cy="1587500"/>
          </a:xfrm>
          <a:prstGeom prst="roundRect">
            <a:avLst/>
          </a:prstGeom>
          <a:solidFill>
            <a:srgbClr val="F7F7F7"/>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4737100" y="1689100"/>
            <a:ext cx="2667000" cy="379591"/>
          </a:xfrm>
          <a:prstGeom prst="rect">
            <a:avLst/>
          </a:prstGeom>
          <a:noFill/>
        </p:spPr>
        <p:txBody>
          <a:bodyPr vert="horz" wrap="square" lIns="76200" tIns="50800" rIns="76200" bIns="50800" rtlCol="0">
            <a:spAutoFit/>
          </a:bodyPr>
          <a:lstStyle/>
          <a:p>
            <a:r>
              <a:rPr lang="en-IN" b="1" smtClean="0">
                <a:solidFill>
                  <a:srgbClr val="0B1B2B"/>
                </a:solidFill>
                <a:latin typeface="Calibri" panose="020F0502020204030204" pitchFamily="34" charset="0"/>
              </a:rPr>
              <a:t>2. EDA</a:t>
            </a:r>
            <a:endParaRPr lang="en-IN" b="1">
              <a:solidFill>
                <a:srgbClr val="0B1B2B"/>
              </a:solidFill>
              <a:latin typeface="Calibri" panose="020F0502020204030204" pitchFamily="34" charset="0"/>
            </a:endParaRPr>
          </a:p>
        </p:txBody>
      </p:sp>
      <p:sp>
        <p:nvSpPr>
          <p:cNvPr id="10" name="TextBox 9"/>
          <p:cNvSpPr txBox="1"/>
          <p:nvPr/>
        </p:nvSpPr>
        <p:spPr>
          <a:xfrm>
            <a:off x="4737100" y="2146300"/>
            <a:ext cx="2667000" cy="564257"/>
          </a:xfrm>
          <a:prstGeom prst="rect">
            <a:avLst/>
          </a:prstGeom>
          <a:noFill/>
        </p:spPr>
        <p:txBody>
          <a:bodyPr vert="horz" wrap="square" lIns="76200" tIns="50800" rIns="76200" bIns="50800" rtlCol="0">
            <a:spAutoFit/>
          </a:bodyPr>
          <a:lstStyle/>
          <a:p>
            <a:r>
              <a:rPr lang="en-IN" sz="1500" smtClean="0">
                <a:solidFill>
                  <a:srgbClr val="222222"/>
                </a:solidFill>
                <a:latin typeface="Calibri" panose="020F0502020204030204" pitchFamily="34" charset="0"/>
              </a:rPr>
              <a:t>Missing values, SalePrice distribution, correlations</a:t>
            </a:r>
            <a:endParaRPr lang="en-IN" sz="1500">
              <a:solidFill>
                <a:srgbClr val="222222"/>
              </a:solidFill>
              <a:latin typeface="Calibri" panose="020F0502020204030204" pitchFamily="34" charset="0"/>
            </a:endParaRPr>
          </a:p>
        </p:txBody>
      </p:sp>
      <p:sp>
        <p:nvSpPr>
          <p:cNvPr id="11" name="Rounded Rectangle 10"/>
          <p:cNvSpPr/>
          <p:nvPr/>
        </p:nvSpPr>
        <p:spPr>
          <a:xfrm>
            <a:off x="8318500" y="1460500"/>
            <a:ext cx="3175000" cy="1587500"/>
          </a:xfrm>
          <a:prstGeom prst="roundRect">
            <a:avLst/>
          </a:prstGeom>
          <a:solidFill>
            <a:srgbClr val="F7F7F7"/>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p:cNvSpPr txBox="1"/>
          <p:nvPr/>
        </p:nvSpPr>
        <p:spPr>
          <a:xfrm>
            <a:off x="8547100" y="1689100"/>
            <a:ext cx="2667000" cy="379591"/>
          </a:xfrm>
          <a:prstGeom prst="rect">
            <a:avLst/>
          </a:prstGeom>
          <a:noFill/>
        </p:spPr>
        <p:txBody>
          <a:bodyPr vert="horz" wrap="square" lIns="76200" tIns="50800" rIns="76200" bIns="50800" rtlCol="0">
            <a:spAutoFit/>
          </a:bodyPr>
          <a:lstStyle/>
          <a:p>
            <a:r>
              <a:rPr lang="en-IN" b="1" smtClean="0">
                <a:solidFill>
                  <a:srgbClr val="0B1B2B"/>
                </a:solidFill>
                <a:latin typeface="Calibri" panose="020F0502020204030204" pitchFamily="34" charset="0"/>
              </a:rPr>
              <a:t>3. Features</a:t>
            </a:r>
            <a:endParaRPr lang="en-IN" b="1">
              <a:solidFill>
                <a:srgbClr val="0B1B2B"/>
              </a:solidFill>
              <a:latin typeface="Calibri" panose="020F0502020204030204" pitchFamily="34" charset="0"/>
            </a:endParaRPr>
          </a:p>
        </p:txBody>
      </p:sp>
      <p:sp>
        <p:nvSpPr>
          <p:cNvPr id="13" name="TextBox 12"/>
          <p:cNvSpPr txBox="1"/>
          <p:nvPr/>
        </p:nvSpPr>
        <p:spPr>
          <a:xfrm>
            <a:off x="8547100" y="2146300"/>
            <a:ext cx="2667000" cy="564257"/>
          </a:xfrm>
          <a:prstGeom prst="rect">
            <a:avLst/>
          </a:prstGeom>
          <a:noFill/>
        </p:spPr>
        <p:txBody>
          <a:bodyPr vert="horz" wrap="square" lIns="76200" tIns="50800" rIns="76200" bIns="50800" rtlCol="0">
            <a:spAutoFit/>
          </a:bodyPr>
          <a:lstStyle/>
          <a:p>
            <a:r>
              <a:rPr lang="en-US" sz="1500" smtClean="0">
                <a:solidFill>
                  <a:srgbClr val="222222"/>
                </a:solidFill>
                <a:latin typeface="Calibri" panose="020F0502020204030204" pitchFamily="34" charset="0"/>
              </a:rPr>
              <a:t>Create TotalSF, TotalBath, ages, availability flags</a:t>
            </a:r>
            <a:endParaRPr lang="en-IN" sz="1500">
              <a:solidFill>
                <a:srgbClr val="222222"/>
              </a:solidFill>
              <a:latin typeface="Calibri" panose="020F0502020204030204" pitchFamily="34" charset="0"/>
            </a:endParaRPr>
          </a:p>
        </p:txBody>
      </p:sp>
      <p:sp>
        <p:nvSpPr>
          <p:cNvPr id="14" name="Rounded Rectangle 13"/>
          <p:cNvSpPr/>
          <p:nvPr/>
        </p:nvSpPr>
        <p:spPr>
          <a:xfrm>
            <a:off x="698500" y="3937000"/>
            <a:ext cx="3175000" cy="1587500"/>
          </a:xfrm>
          <a:prstGeom prst="roundRect">
            <a:avLst/>
          </a:prstGeom>
          <a:solidFill>
            <a:srgbClr val="F7F7F7"/>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a:off x="927100" y="4165600"/>
            <a:ext cx="2667000" cy="379591"/>
          </a:xfrm>
          <a:prstGeom prst="rect">
            <a:avLst/>
          </a:prstGeom>
          <a:noFill/>
        </p:spPr>
        <p:txBody>
          <a:bodyPr vert="horz" wrap="square" lIns="76200" tIns="50800" rIns="76200" bIns="50800" rtlCol="0">
            <a:spAutoFit/>
          </a:bodyPr>
          <a:lstStyle/>
          <a:p>
            <a:r>
              <a:rPr lang="en-IN" b="1" smtClean="0">
                <a:solidFill>
                  <a:srgbClr val="0B1B2B"/>
                </a:solidFill>
                <a:latin typeface="Calibri" panose="020F0502020204030204" pitchFamily="34" charset="0"/>
              </a:rPr>
              <a:t>4. Preprocess</a:t>
            </a:r>
            <a:endParaRPr lang="en-IN" b="1">
              <a:solidFill>
                <a:srgbClr val="0B1B2B"/>
              </a:solidFill>
              <a:latin typeface="Calibri" panose="020F0502020204030204" pitchFamily="34" charset="0"/>
            </a:endParaRPr>
          </a:p>
        </p:txBody>
      </p:sp>
      <p:sp>
        <p:nvSpPr>
          <p:cNvPr id="16" name="TextBox 15"/>
          <p:cNvSpPr txBox="1"/>
          <p:nvPr/>
        </p:nvSpPr>
        <p:spPr>
          <a:xfrm>
            <a:off x="927100" y="4622800"/>
            <a:ext cx="2667000" cy="564257"/>
          </a:xfrm>
          <a:prstGeom prst="rect">
            <a:avLst/>
          </a:prstGeom>
          <a:noFill/>
        </p:spPr>
        <p:txBody>
          <a:bodyPr vert="horz" wrap="square" lIns="76200" tIns="50800" rIns="76200" bIns="50800" rtlCol="0">
            <a:spAutoFit/>
          </a:bodyPr>
          <a:lstStyle/>
          <a:p>
            <a:r>
              <a:rPr lang="en-US" sz="1500" smtClean="0">
                <a:solidFill>
                  <a:srgbClr val="222222"/>
                </a:solidFill>
                <a:latin typeface="Calibri" panose="020F0502020204030204" pitchFamily="34" charset="0"/>
              </a:rPr>
              <a:t>Impute, scale, and one-hot encode</a:t>
            </a:r>
            <a:endParaRPr lang="en-IN" sz="1500">
              <a:solidFill>
                <a:srgbClr val="222222"/>
              </a:solidFill>
              <a:latin typeface="Calibri" panose="020F0502020204030204" pitchFamily="34" charset="0"/>
            </a:endParaRPr>
          </a:p>
        </p:txBody>
      </p:sp>
      <p:sp>
        <p:nvSpPr>
          <p:cNvPr id="17" name="Rounded Rectangle 16"/>
          <p:cNvSpPr/>
          <p:nvPr/>
        </p:nvSpPr>
        <p:spPr>
          <a:xfrm>
            <a:off x="4508500" y="3937000"/>
            <a:ext cx="3175000" cy="1587500"/>
          </a:xfrm>
          <a:prstGeom prst="roundRect">
            <a:avLst/>
          </a:prstGeom>
          <a:solidFill>
            <a:srgbClr val="F7F7F7"/>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4737100" y="4165600"/>
            <a:ext cx="2667000" cy="379591"/>
          </a:xfrm>
          <a:prstGeom prst="rect">
            <a:avLst/>
          </a:prstGeom>
          <a:noFill/>
        </p:spPr>
        <p:txBody>
          <a:bodyPr vert="horz" wrap="square" lIns="76200" tIns="50800" rIns="76200" bIns="50800" rtlCol="0">
            <a:spAutoFit/>
          </a:bodyPr>
          <a:lstStyle/>
          <a:p>
            <a:r>
              <a:rPr lang="en-IN" b="1" smtClean="0">
                <a:solidFill>
                  <a:srgbClr val="0B1B2B"/>
                </a:solidFill>
                <a:latin typeface="Calibri" panose="020F0502020204030204" pitchFamily="34" charset="0"/>
              </a:rPr>
              <a:t>5. Train Models</a:t>
            </a:r>
            <a:endParaRPr lang="en-IN" b="1">
              <a:solidFill>
                <a:srgbClr val="0B1B2B"/>
              </a:solidFill>
              <a:latin typeface="Calibri" panose="020F0502020204030204" pitchFamily="34" charset="0"/>
            </a:endParaRPr>
          </a:p>
        </p:txBody>
      </p:sp>
      <p:sp>
        <p:nvSpPr>
          <p:cNvPr id="19" name="TextBox 18"/>
          <p:cNvSpPr txBox="1"/>
          <p:nvPr/>
        </p:nvSpPr>
        <p:spPr>
          <a:xfrm>
            <a:off x="4737100" y="4622800"/>
            <a:ext cx="2667000" cy="564257"/>
          </a:xfrm>
          <a:prstGeom prst="rect">
            <a:avLst/>
          </a:prstGeom>
          <a:noFill/>
        </p:spPr>
        <p:txBody>
          <a:bodyPr vert="horz" wrap="square" lIns="76200" tIns="50800" rIns="76200" bIns="50800" rtlCol="0">
            <a:spAutoFit/>
          </a:bodyPr>
          <a:lstStyle/>
          <a:p>
            <a:r>
              <a:rPr lang="en-IN" sz="1500" smtClean="0">
                <a:solidFill>
                  <a:srgbClr val="222222"/>
                </a:solidFill>
                <a:latin typeface="Calibri" panose="020F0502020204030204" pitchFamily="34" charset="0"/>
              </a:rPr>
              <a:t>Base regressors + ensemble models</a:t>
            </a:r>
            <a:endParaRPr lang="en-IN" sz="1500">
              <a:solidFill>
                <a:srgbClr val="222222"/>
              </a:solidFill>
              <a:latin typeface="Calibri" panose="020F0502020204030204" pitchFamily="34" charset="0"/>
            </a:endParaRPr>
          </a:p>
        </p:txBody>
      </p:sp>
      <p:sp>
        <p:nvSpPr>
          <p:cNvPr id="20" name="Rounded Rectangle 19"/>
          <p:cNvSpPr/>
          <p:nvPr/>
        </p:nvSpPr>
        <p:spPr>
          <a:xfrm>
            <a:off x="8318500" y="3937000"/>
            <a:ext cx="3175000" cy="1587500"/>
          </a:xfrm>
          <a:prstGeom prst="roundRect">
            <a:avLst/>
          </a:prstGeom>
          <a:solidFill>
            <a:srgbClr val="F7F7F7"/>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p:cNvSpPr txBox="1"/>
          <p:nvPr/>
        </p:nvSpPr>
        <p:spPr>
          <a:xfrm>
            <a:off x="8547100" y="4165600"/>
            <a:ext cx="2667000" cy="379591"/>
          </a:xfrm>
          <a:prstGeom prst="rect">
            <a:avLst/>
          </a:prstGeom>
          <a:noFill/>
        </p:spPr>
        <p:txBody>
          <a:bodyPr vert="horz" wrap="square" lIns="76200" tIns="50800" rIns="76200" bIns="50800" rtlCol="0">
            <a:spAutoFit/>
          </a:bodyPr>
          <a:lstStyle/>
          <a:p>
            <a:r>
              <a:rPr lang="en-IN" b="1" smtClean="0">
                <a:solidFill>
                  <a:srgbClr val="0B1B2B"/>
                </a:solidFill>
                <a:latin typeface="Calibri" panose="020F0502020204030204" pitchFamily="34" charset="0"/>
              </a:rPr>
              <a:t>6. Evaluate &amp; Submit</a:t>
            </a:r>
            <a:endParaRPr lang="en-IN" b="1">
              <a:solidFill>
                <a:srgbClr val="0B1B2B"/>
              </a:solidFill>
              <a:latin typeface="Calibri" panose="020F0502020204030204" pitchFamily="34" charset="0"/>
            </a:endParaRPr>
          </a:p>
        </p:txBody>
      </p:sp>
      <p:sp>
        <p:nvSpPr>
          <p:cNvPr id="22" name="TextBox 21"/>
          <p:cNvSpPr txBox="1"/>
          <p:nvPr/>
        </p:nvSpPr>
        <p:spPr>
          <a:xfrm>
            <a:off x="8547100" y="4622800"/>
            <a:ext cx="2667000" cy="564257"/>
          </a:xfrm>
          <a:prstGeom prst="rect">
            <a:avLst/>
          </a:prstGeom>
          <a:noFill/>
        </p:spPr>
        <p:txBody>
          <a:bodyPr vert="horz" wrap="square" lIns="76200" tIns="50800" rIns="76200" bIns="50800" rtlCol="0">
            <a:spAutoFit/>
          </a:bodyPr>
          <a:lstStyle/>
          <a:p>
            <a:r>
              <a:rPr lang="en-US" sz="1500" smtClean="0">
                <a:solidFill>
                  <a:srgbClr val="222222"/>
                </a:solidFill>
                <a:latin typeface="Calibri" panose="020F0502020204030204" pitchFamily="34" charset="0"/>
              </a:rPr>
              <a:t>Compare metrics and save predictions</a:t>
            </a:r>
            <a:endParaRPr lang="en-IN" sz="1500">
              <a:solidFill>
                <a:srgbClr val="222222"/>
              </a:solidFill>
              <a:latin typeface="Calibri" panose="020F0502020204030204" pitchFamily="34" charset="0"/>
            </a:endParaRPr>
          </a:p>
        </p:txBody>
      </p:sp>
      <p:sp>
        <p:nvSpPr>
          <p:cNvPr id="23" name="TextBox 22"/>
          <p:cNvSpPr txBox="1"/>
          <p:nvPr/>
        </p:nvSpPr>
        <p:spPr>
          <a:xfrm>
            <a:off x="8763000" y="6451600"/>
            <a:ext cx="2921000" cy="241092"/>
          </a:xfrm>
          <a:prstGeom prst="rect">
            <a:avLst/>
          </a:prstGeom>
          <a:noFill/>
        </p:spPr>
        <p:txBody>
          <a:bodyPr vert="horz" wrap="square" lIns="76200" tIns="50800" rIns="76200" bIns="50800" rtlCol="0">
            <a:spAutoFit/>
          </a:bodyPr>
          <a:lstStyle/>
          <a:p>
            <a:pPr algn="r"/>
            <a:r>
              <a:rPr lang="en-US" sz="900" smtClean="0">
                <a:solidFill>
                  <a:srgbClr val="666666"/>
                </a:solidFill>
                <a:latin typeface="Calibri" panose="020F0502020204030204" pitchFamily="34" charset="0"/>
              </a:rPr>
              <a:t>House Price Prediction | Slide 5</a:t>
            </a:r>
            <a:endParaRPr lang="en-IN" sz="900">
              <a:solidFill>
                <a:srgbClr val="666666"/>
              </a:solidFill>
              <a:latin typeface="Calibri" panose="020F0502020204030204" pitchFamily="34" charset="0"/>
            </a:endParaRPr>
          </a:p>
        </p:txBody>
      </p:sp>
    </p:spTree>
    <p:extLst>
      <p:ext uri="{BB962C8B-B14F-4D97-AF65-F5344CB8AC3E}">
        <p14:creationId xmlns:p14="http://schemas.microsoft.com/office/powerpoint/2010/main" val="2838046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63600"/>
          </a:xfrm>
          <a:prstGeom prst="rect">
            <a:avLst/>
          </a:prstGeom>
          <a:solidFill>
            <a:srgbClr val="0B1B2B"/>
          </a:solidFill>
          <a:ln>
            <a:solidFill>
              <a:srgbClr val="0B1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31800" y="152400"/>
            <a:ext cx="9144000" cy="487313"/>
          </a:xfrm>
          <a:prstGeom prst="rect">
            <a:avLst/>
          </a:prstGeom>
          <a:noFill/>
        </p:spPr>
        <p:txBody>
          <a:bodyPr vert="horz" wrap="square" lIns="76200" tIns="50800" rIns="76200" bIns="50800" rtlCol="0">
            <a:spAutoFit/>
          </a:bodyPr>
          <a:lstStyle/>
          <a:p>
            <a:r>
              <a:rPr lang="en-IN" sz="2500" b="1" smtClean="0">
                <a:solidFill>
                  <a:srgbClr val="FFFFFF"/>
                </a:solidFill>
                <a:latin typeface="Calibri" panose="020F0502020204030204" pitchFamily="34" charset="0"/>
              </a:rPr>
              <a:t>Model Implementation</a:t>
            </a:r>
            <a:endParaRPr lang="en-IN" sz="2500" b="1">
              <a:solidFill>
                <a:srgbClr val="FFFFFF"/>
              </a:solidFill>
              <a:latin typeface="Calibri" panose="020F0502020204030204" pitchFamily="34" charset="0"/>
            </a:endParaRPr>
          </a:p>
        </p:txBody>
      </p:sp>
      <p:sp>
        <p:nvSpPr>
          <p:cNvPr id="4" name="TextBox 3"/>
          <p:cNvSpPr txBox="1"/>
          <p:nvPr/>
        </p:nvSpPr>
        <p:spPr>
          <a:xfrm>
            <a:off x="9652000" y="215900"/>
            <a:ext cx="2032000" cy="287258"/>
          </a:xfrm>
          <a:prstGeom prst="rect">
            <a:avLst/>
          </a:prstGeom>
          <a:noFill/>
        </p:spPr>
        <p:txBody>
          <a:bodyPr vert="horz" wrap="square" lIns="76200" tIns="50800" rIns="76200" bIns="50800" rtlCol="0">
            <a:spAutoFit/>
          </a:bodyPr>
          <a:lstStyle/>
          <a:p>
            <a:pPr algn="r"/>
            <a:r>
              <a:rPr lang="en-IN" sz="1200" smtClean="0">
                <a:solidFill>
                  <a:srgbClr val="FFFFFF"/>
                </a:solidFill>
                <a:latin typeface="Calibri" panose="020F0502020204030204" pitchFamily="34" charset="0"/>
              </a:rPr>
              <a:t>Models</a:t>
            </a:r>
            <a:endParaRPr lang="en-IN" sz="1200">
              <a:solidFill>
                <a:srgbClr val="FFFFFF"/>
              </a:solidFill>
              <a:latin typeface="Calibri" panose="020F0502020204030204" pitchFamily="34" charset="0"/>
            </a:endParaRPr>
          </a:p>
        </p:txBody>
      </p:sp>
      <p:sp>
        <p:nvSpPr>
          <p:cNvPr id="5" name="TextBox 4"/>
          <p:cNvSpPr txBox="1"/>
          <p:nvPr/>
        </p:nvSpPr>
        <p:spPr>
          <a:xfrm>
            <a:off x="889000" y="1397000"/>
            <a:ext cx="10223500" cy="2292935"/>
          </a:xfrm>
          <a:prstGeom prst="rect">
            <a:avLst/>
          </a:prstGeom>
          <a:noFill/>
        </p:spPr>
        <p:txBody>
          <a:bodyPr vert="horz" wrap="square" lIns="101600" tIns="76200" rIns="101600" bIns="76200" rtlCol="0">
            <a:spAutoFit/>
          </a:bodyPr>
          <a:lstStyle/>
          <a:p>
            <a:pPr marL="457200" indent="-457200">
              <a:spcAft>
                <a:spcPts val="600"/>
              </a:spcAft>
              <a:buFont typeface="+mj-lt"/>
              <a:buChar char="•"/>
            </a:pPr>
            <a:r>
              <a:rPr lang="en-US" sz="1900" smtClean="0">
                <a:solidFill>
                  <a:srgbClr val="222222"/>
                </a:solidFill>
                <a:latin typeface="Calibri" panose="020F0502020204030204" pitchFamily="34" charset="0"/>
              </a:rPr>
              <a:t>Linear Regression: baseline model for linear feature-price relationships</a:t>
            </a:r>
          </a:p>
          <a:p>
            <a:pPr marL="457200" indent="-457200">
              <a:spcAft>
                <a:spcPts val="600"/>
              </a:spcAft>
              <a:buFont typeface="+mj-lt"/>
              <a:buChar char="•"/>
            </a:pPr>
            <a:r>
              <a:rPr lang="en-US" sz="1900" smtClean="0">
                <a:solidFill>
                  <a:srgbClr val="222222"/>
                </a:solidFill>
                <a:latin typeface="Calibri" panose="020F0502020204030204" pitchFamily="34" charset="0"/>
              </a:rPr>
              <a:t>Decision Tree: captures non-linear splits but may overfit</a:t>
            </a:r>
          </a:p>
          <a:p>
            <a:pPr marL="457200" indent="-457200">
              <a:spcAft>
                <a:spcPts val="600"/>
              </a:spcAft>
              <a:buFont typeface="+mj-lt"/>
              <a:buChar char="•"/>
            </a:pPr>
            <a:r>
              <a:rPr lang="en-US" sz="1900" smtClean="0">
                <a:solidFill>
                  <a:srgbClr val="222222"/>
                </a:solidFill>
                <a:latin typeface="Calibri" panose="020F0502020204030204" pitchFamily="34" charset="0"/>
              </a:rPr>
              <a:t>Random Forest: averages many trees for better stability</a:t>
            </a:r>
          </a:p>
          <a:p>
            <a:pPr marL="457200" indent="-457200">
              <a:spcAft>
                <a:spcPts val="600"/>
              </a:spcAft>
              <a:buFont typeface="+mj-lt"/>
              <a:buChar char="•"/>
            </a:pPr>
            <a:r>
              <a:rPr lang="en-US" sz="1900" smtClean="0">
                <a:solidFill>
                  <a:srgbClr val="222222"/>
                </a:solidFill>
                <a:latin typeface="Calibri" panose="020F0502020204030204" pitchFamily="34" charset="0"/>
              </a:rPr>
              <a:t>Gradient Boosting: sequentially corrects residual errors</a:t>
            </a:r>
          </a:p>
          <a:p>
            <a:pPr marL="457200" indent="-457200">
              <a:spcAft>
                <a:spcPts val="600"/>
              </a:spcAft>
              <a:buFont typeface="+mj-lt"/>
              <a:buChar char="•"/>
            </a:pPr>
            <a:r>
              <a:rPr lang="en-US" sz="1900" smtClean="0">
                <a:solidFill>
                  <a:srgbClr val="222222"/>
                </a:solidFill>
                <a:latin typeface="Calibri" panose="020F0502020204030204" pitchFamily="34" charset="0"/>
              </a:rPr>
              <a:t>K-Means: unsupervised comparison using Low / Medium / High price bins</a:t>
            </a:r>
          </a:p>
          <a:p>
            <a:pPr marL="457200" indent="-457200">
              <a:spcAft>
                <a:spcPts val="600"/>
              </a:spcAft>
              <a:buFont typeface="+mj-lt"/>
              <a:buChar char="•"/>
            </a:pPr>
            <a:r>
              <a:rPr lang="en-US" sz="1900" smtClean="0">
                <a:solidFill>
                  <a:srgbClr val="222222"/>
                </a:solidFill>
                <a:latin typeface="Calibri" panose="020F0502020204030204" pitchFamily="34" charset="0"/>
              </a:rPr>
              <a:t>Optional Neural Network: dense layers with dropout and freeze/fine-tune step</a:t>
            </a:r>
            <a:endParaRPr lang="en-IN" sz="1900">
              <a:solidFill>
                <a:srgbClr val="222222"/>
              </a:solidFill>
              <a:latin typeface="Calibri" panose="020F0502020204030204" pitchFamily="34" charset="0"/>
            </a:endParaRPr>
          </a:p>
        </p:txBody>
      </p:sp>
      <p:sp>
        <p:nvSpPr>
          <p:cNvPr id="6" name="Rounded Rectangle 5"/>
          <p:cNvSpPr/>
          <p:nvPr/>
        </p:nvSpPr>
        <p:spPr>
          <a:xfrm>
            <a:off x="1143000" y="4826000"/>
            <a:ext cx="9652000" cy="762000"/>
          </a:xfrm>
          <a:prstGeom prst="roundRect">
            <a:avLst/>
          </a:prstGeom>
          <a:solidFill>
            <a:srgbClr val="F7F7F7"/>
          </a:solidFill>
          <a:ln>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1524000" y="5054600"/>
            <a:ext cx="8890000" cy="379591"/>
          </a:xfrm>
          <a:prstGeom prst="rect">
            <a:avLst/>
          </a:prstGeom>
          <a:noFill/>
        </p:spPr>
        <p:txBody>
          <a:bodyPr vert="horz" wrap="square" lIns="76200" tIns="50800" rIns="76200" bIns="50800" rtlCol="0">
            <a:spAutoFit/>
          </a:bodyPr>
          <a:lstStyle/>
          <a:p>
            <a:pPr algn="ctr"/>
            <a:r>
              <a:rPr lang="en-US" b="1" smtClean="0">
                <a:solidFill>
                  <a:srgbClr val="0B1B2B"/>
                </a:solidFill>
                <a:latin typeface="Calibri" panose="020F0502020204030204" pitchFamily="34" charset="0"/>
              </a:rPr>
              <a:t>All supervised models were trained using sklearn Pipelines on log1p(SalePrice).</a:t>
            </a:r>
            <a:endParaRPr lang="en-IN" b="1">
              <a:solidFill>
                <a:srgbClr val="0B1B2B"/>
              </a:solidFill>
              <a:latin typeface="Calibri" panose="020F0502020204030204" pitchFamily="34" charset="0"/>
            </a:endParaRPr>
          </a:p>
        </p:txBody>
      </p:sp>
      <p:sp>
        <p:nvSpPr>
          <p:cNvPr id="8" name="TextBox 7"/>
          <p:cNvSpPr txBox="1"/>
          <p:nvPr/>
        </p:nvSpPr>
        <p:spPr>
          <a:xfrm>
            <a:off x="8763000" y="6451600"/>
            <a:ext cx="2921000" cy="241092"/>
          </a:xfrm>
          <a:prstGeom prst="rect">
            <a:avLst/>
          </a:prstGeom>
          <a:noFill/>
        </p:spPr>
        <p:txBody>
          <a:bodyPr vert="horz" wrap="square" lIns="76200" tIns="50800" rIns="76200" bIns="50800" rtlCol="0">
            <a:spAutoFit/>
          </a:bodyPr>
          <a:lstStyle/>
          <a:p>
            <a:pPr algn="r"/>
            <a:r>
              <a:rPr lang="en-US" sz="900" smtClean="0">
                <a:solidFill>
                  <a:srgbClr val="666666"/>
                </a:solidFill>
                <a:latin typeface="Calibri" panose="020F0502020204030204" pitchFamily="34" charset="0"/>
              </a:rPr>
              <a:t>House Price Prediction | Slide 6</a:t>
            </a:r>
            <a:endParaRPr lang="en-IN" sz="900">
              <a:solidFill>
                <a:srgbClr val="666666"/>
              </a:solidFill>
              <a:latin typeface="Calibri" panose="020F0502020204030204" pitchFamily="34" charset="0"/>
            </a:endParaRPr>
          </a:p>
        </p:txBody>
      </p:sp>
    </p:spTree>
    <p:extLst>
      <p:ext uri="{BB962C8B-B14F-4D97-AF65-F5344CB8AC3E}">
        <p14:creationId xmlns:p14="http://schemas.microsoft.com/office/powerpoint/2010/main" val="3220069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63600"/>
          </a:xfrm>
          <a:prstGeom prst="rect">
            <a:avLst/>
          </a:prstGeom>
          <a:solidFill>
            <a:srgbClr val="0B1B2B"/>
          </a:solidFill>
          <a:ln>
            <a:solidFill>
              <a:srgbClr val="0B1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31800" y="152400"/>
            <a:ext cx="9144000" cy="487313"/>
          </a:xfrm>
          <a:prstGeom prst="rect">
            <a:avLst/>
          </a:prstGeom>
          <a:noFill/>
        </p:spPr>
        <p:txBody>
          <a:bodyPr vert="horz" wrap="square" lIns="76200" tIns="50800" rIns="76200" bIns="50800" rtlCol="0">
            <a:spAutoFit/>
          </a:bodyPr>
          <a:lstStyle/>
          <a:p>
            <a:r>
              <a:rPr lang="en-IN" sz="2500" b="1" smtClean="0">
                <a:solidFill>
                  <a:srgbClr val="FFFFFF"/>
                </a:solidFill>
                <a:latin typeface="Calibri" panose="020F0502020204030204" pitchFamily="34" charset="0"/>
              </a:rPr>
              <a:t>Ensemble Techniques</a:t>
            </a:r>
            <a:endParaRPr lang="en-IN" sz="2500" b="1">
              <a:solidFill>
                <a:srgbClr val="FFFFFF"/>
              </a:solidFill>
              <a:latin typeface="Calibri" panose="020F0502020204030204" pitchFamily="34" charset="0"/>
            </a:endParaRPr>
          </a:p>
        </p:txBody>
      </p:sp>
      <p:sp>
        <p:nvSpPr>
          <p:cNvPr id="4" name="TextBox 3"/>
          <p:cNvSpPr txBox="1"/>
          <p:nvPr/>
        </p:nvSpPr>
        <p:spPr>
          <a:xfrm>
            <a:off x="9652000" y="215900"/>
            <a:ext cx="2032000" cy="287258"/>
          </a:xfrm>
          <a:prstGeom prst="rect">
            <a:avLst/>
          </a:prstGeom>
          <a:noFill/>
        </p:spPr>
        <p:txBody>
          <a:bodyPr vert="horz" wrap="square" lIns="76200" tIns="50800" rIns="76200" bIns="50800" rtlCol="0">
            <a:spAutoFit/>
          </a:bodyPr>
          <a:lstStyle/>
          <a:p>
            <a:pPr algn="r"/>
            <a:r>
              <a:rPr lang="en-IN" sz="1200" smtClean="0">
                <a:solidFill>
                  <a:srgbClr val="FFFFFF"/>
                </a:solidFill>
                <a:latin typeface="Calibri" panose="020F0502020204030204" pitchFamily="34" charset="0"/>
              </a:rPr>
              <a:t>Voting &amp; Stacking</a:t>
            </a:r>
            <a:endParaRPr lang="en-IN" sz="1200">
              <a:solidFill>
                <a:srgbClr val="FFFFFF"/>
              </a:solidFill>
              <a:latin typeface="Calibri" panose="020F0502020204030204" pitchFamily="34" charset="0"/>
            </a:endParaRPr>
          </a:p>
        </p:txBody>
      </p:sp>
      <p:sp>
        <p:nvSpPr>
          <p:cNvPr id="5" name="Rounded Rectangle 4"/>
          <p:cNvSpPr/>
          <p:nvPr/>
        </p:nvSpPr>
        <p:spPr>
          <a:xfrm>
            <a:off x="889000" y="1460500"/>
            <a:ext cx="4572000" cy="3302000"/>
          </a:xfrm>
          <a:prstGeom prst="roundRect">
            <a:avLst/>
          </a:prstGeom>
          <a:solidFill>
            <a:srgbClr val="F7F7F7"/>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1206500" y="1778000"/>
            <a:ext cx="3810000" cy="441146"/>
          </a:xfrm>
          <a:prstGeom prst="rect">
            <a:avLst/>
          </a:prstGeom>
          <a:noFill/>
        </p:spPr>
        <p:txBody>
          <a:bodyPr vert="horz" wrap="square" lIns="76200" tIns="50800" rIns="76200" bIns="50800" rtlCol="0">
            <a:spAutoFit/>
          </a:bodyPr>
          <a:lstStyle/>
          <a:p>
            <a:r>
              <a:rPr lang="en-IN" sz="2200" b="1" smtClean="0">
                <a:solidFill>
                  <a:srgbClr val="0B1B2B"/>
                </a:solidFill>
                <a:latin typeface="Calibri" panose="020F0502020204030204" pitchFamily="34" charset="0"/>
              </a:rPr>
              <a:t>Voting Regressor</a:t>
            </a:r>
            <a:endParaRPr lang="en-IN" sz="2200" b="1">
              <a:solidFill>
                <a:srgbClr val="0B1B2B"/>
              </a:solidFill>
              <a:latin typeface="Calibri" panose="020F0502020204030204" pitchFamily="34" charset="0"/>
            </a:endParaRPr>
          </a:p>
        </p:txBody>
      </p:sp>
      <p:sp>
        <p:nvSpPr>
          <p:cNvPr id="7" name="TextBox 6"/>
          <p:cNvSpPr txBox="1"/>
          <p:nvPr/>
        </p:nvSpPr>
        <p:spPr>
          <a:xfrm>
            <a:off x="1206500" y="2413000"/>
            <a:ext cx="3683000" cy="2139047"/>
          </a:xfrm>
          <a:prstGeom prst="rect">
            <a:avLst/>
          </a:prstGeom>
          <a:noFill/>
        </p:spPr>
        <p:txBody>
          <a:bodyPr vert="horz" wrap="square" lIns="101600" tIns="76200" rIns="101600" bIns="76200" rtlCol="0">
            <a:spAutoFit/>
          </a:bodyPr>
          <a:lstStyle/>
          <a:p>
            <a:pPr marL="342900" indent="-342900">
              <a:spcAft>
                <a:spcPts val="600"/>
              </a:spcAft>
              <a:buFont typeface="+mj-lt"/>
              <a:buChar char="•"/>
            </a:pPr>
            <a:r>
              <a:rPr lang="en-US" sz="1700" smtClean="0">
                <a:solidFill>
                  <a:srgbClr val="222222"/>
                </a:solidFill>
                <a:latin typeface="Calibri" panose="020F0502020204030204" pitchFamily="34" charset="0"/>
              </a:rPr>
              <a:t>Combines Linear Regression, Decision Tree, Gradient Boosting, and Random Forest</a:t>
            </a:r>
          </a:p>
          <a:p>
            <a:pPr marL="342900" indent="-342900">
              <a:spcAft>
                <a:spcPts val="600"/>
              </a:spcAft>
              <a:buFont typeface="+mj-lt"/>
              <a:buChar char="•"/>
            </a:pPr>
            <a:r>
              <a:rPr lang="en-US" sz="1700" smtClean="0">
                <a:solidFill>
                  <a:srgbClr val="222222"/>
                </a:solidFill>
                <a:latin typeface="Calibri" panose="020F0502020204030204" pitchFamily="34" charset="0"/>
              </a:rPr>
              <a:t>Final output is the averaged prediction of base regressors</a:t>
            </a:r>
          </a:p>
          <a:p>
            <a:pPr marL="342900" indent="-342900">
              <a:spcAft>
                <a:spcPts val="600"/>
              </a:spcAft>
              <a:buFont typeface="+mj-lt"/>
              <a:buChar char="•"/>
            </a:pPr>
            <a:r>
              <a:rPr lang="en-US" sz="1700" smtClean="0">
                <a:solidFill>
                  <a:srgbClr val="222222"/>
                </a:solidFill>
                <a:latin typeface="Calibri" panose="020F0502020204030204" pitchFamily="34" charset="0"/>
              </a:rPr>
              <a:t>Improves stability over a single model</a:t>
            </a:r>
            <a:endParaRPr lang="en-IN" sz="1700">
              <a:solidFill>
                <a:srgbClr val="222222"/>
              </a:solidFill>
              <a:latin typeface="Calibri" panose="020F0502020204030204" pitchFamily="34" charset="0"/>
            </a:endParaRPr>
          </a:p>
        </p:txBody>
      </p:sp>
      <p:sp>
        <p:nvSpPr>
          <p:cNvPr id="8" name="Rounded Rectangle 7"/>
          <p:cNvSpPr/>
          <p:nvPr/>
        </p:nvSpPr>
        <p:spPr>
          <a:xfrm>
            <a:off x="6731000" y="1460500"/>
            <a:ext cx="4572000" cy="3302000"/>
          </a:xfrm>
          <a:prstGeom prst="roundRect">
            <a:avLst/>
          </a:prstGeom>
          <a:solidFill>
            <a:srgbClr val="F7F7F7"/>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7048500" y="1778000"/>
            <a:ext cx="3810000" cy="441146"/>
          </a:xfrm>
          <a:prstGeom prst="rect">
            <a:avLst/>
          </a:prstGeom>
          <a:noFill/>
        </p:spPr>
        <p:txBody>
          <a:bodyPr vert="horz" wrap="square" lIns="76200" tIns="50800" rIns="76200" bIns="50800" rtlCol="0">
            <a:spAutoFit/>
          </a:bodyPr>
          <a:lstStyle/>
          <a:p>
            <a:r>
              <a:rPr lang="en-IN" sz="2200" b="1" smtClean="0">
                <a:solidFill>
                  <a:srgbClr val="0B1B2B"/>
                </a:solidFill>
                <a:latin typeface="Calibri" panose="020F0502020204030204" pitchFamily="34" charset="0"/>
              </a:rPr>
              <a:t>Stacking Regressor</a:t>
            </a:r>
            <a:endParaRPr lang="en-IN" sz="2200" b="1">
              <a:solidFill>
                <a:srgbClr val="0B1B2B"/>
              </a:solidFill>
              <a:latin typeface="Calibri" panose="020F0502020204030204" pitchFamily="34" charset="0"/>
            </a:endParaRPr>
          </a:p>
        </p:txBody>
      </p:sp>
      <p:sp>
        <p:nvSpPr>
          <p:cNvPr id="10" name="TextBox 9"/>
          <p:cNvSpPr txBox="1"/>
          <p:nvPr/>
        </p:nvSpPr>
        <p:spPr>
          <a:xfrm>
            <a:off x="7048500" y="2413000"/>
            <a:ext cx="3683000" cy="2215991"/>
          </a:xfrm>
          <a:prstGeom prst="rect">
            <a:avLst/>
          </a:prstGeom>
          <a:noFill/>
        </p:spPr>
        <p:txBody>
          <a:bodyPr vert="horz" wrap="square" lIns="101600" tIns="76200" rIns="101600" bIns="76200" rtlCol="0">
            <a:spAutoFit/>
          </a:bodyPr>
          <a:lstStyle/>
          <a:p>
            <a:pPr marL="342900" indent="-342900">
              <a:spcAft>
                <a:spcPts val="600"/>
              </a:spcAft>
              <a:buFont typeface="+mj-lt"/>
              <a:buChar char="•"/>
            </a:pPr>
            <a:r>
              <a:rPr lang="en-US" sz="1700" smtClean="0">
                <a:solidFill>
                  <a:srgbClr val="222222"/>
                </a:solidFill>
                <a:latin typeface="Calibri" panose="020F0502020204030204" pitchFamily="34" charset="0"/>
              </a:rPr>
              <a:t>Uses base-model predictions as meta-features</a:t>
            </a:r>
          </a:p>
          <a:p>
            <a:pPr marL="342900" indent="-342900">
              <a:spcAft>
                <a:spcPts val="600"/>
              </a:spcAft>
              <a:buFont typeface="+mj-lt"/>
              <a:buChar char="•"/>
            </a:pPr>
            <a:r>
              <a:rPr lang="en-US" sz="1700" smtClean="0">
                <a:solidFill>
                  <a:srgbClr val="222222"/>
                </a:solidFill>
                <a:latin typeface="Calibri" panose="020F0502020204030204" pitchFamily="34" charset="0"/>
              </a:rPr>
              <a:t>Final estimator: Ridge Regression with alpha = 10.0</a:t>
            </a:r>
          </a:p>
          <a:p>
            <a:pPr marL="342900" indent="-342900">
              <a:spcAft>
                <a:spcPts val="600"/>
              </a:spcAft>
              <a:buFont typeface="+mj-lt"/>
              <a:buChar char="•"/>
            </a:pPr>
            <a:r>
              <a:rPr lang="en-US" sz="1700" smtClean="0">
                <a:solidFill>
                  <a:srgbClr val="222222"/>
                </a:solidFill>
                <a:latin typeface="Calibri" panose="020F0502020204030204" pitchFamily="34" charset="0"/>
              </a:rPr>
              <a:t>3-fold cross-validation inside stacking</a:t>
            </a:r>
          </a:p>
          <a:p>
            <a:pPr marL="342900" indent="-342900">
              <a:spcAft>
                <a:spcPts val="600"/>
              </a:spcAft>
              <a:buFont typeface="+mj-lt"/>
              <a:buChar char="•"/>
            </a:pPr>
            <a:r>
              <a:rPr lang="en-US" sz="1700" smtClean="0">
                <a:solidFill>
                  <a:srgbClr val="222222"/>
                </a:solidFill>
                <a:latin typeface="Calibri" panose="020F0502020204030204" pitchFamily="34" charset="0"/>
              </a:rPr>
              <a:t>Selected as the best final model</a:t>
            </a:r>
            <a:endParaRPr lang="en-IN" sz="1700">
              <a:solidFill>
                <a:srgbClr val="222222"/>
              </a:solidFill>
              <a:latin typeface="Calibri" panose="020F0502020204030204" pitchFamily="34" charset="0"/>
            </a:endParaRPr>
          </a:p>
        </p:txBody>
      </p:sp>
      <p:sp>
        <p:nvSpPr>
          <p:cNvPr id="11" name="TextBox 10"/>
          <p:cNvSpPr txBox="1"/>
          <p:nvPr/>
        </p:nvSpPr>
        <p:spPr>
          <a:xfrm>
            <a:off x="8763000" y="6451600"/>
            <a:ext cx="2921000" cy="241092"/>
          </a:xfrm>
          <a:prstGeom prst="rect">
            <a:avLst/>
          </a:prstGeom>
          <a:noFill/>
        </p:spPr>
        <p:txBody>
          <a:bodyPr vert="horz" wrap="square" lIns="76200" tIns="50800" rIns="76200" bIns="50800" rtlCol="0">
            <a:spAutoFit/>
          </a:bodyPr>
          <a:lstStyle/>
          <a:p>
            <a:pPr algn="r"/>
            <a:r>
              <a:rPr lang="en-US" sz="900" smtClean="0">
                <a:solidFill>
                  <a:srgbClr val="666666"/>
                </a:solidFill>
                <a:latin typeface="Calibri" panose="020F0502020204030204" pitchFamily="34" charset="0"/>
              </a:rPr>
              <a:t>House Price Prediction | Slide 7</a:t>
            </a:r>
            <a:endParaRPr lang="en-IN" sz="900">
              <a:solidFill>
                <a:srgbClr val="666666"/>
              </a:solidFill>
              <a:latin typeface="Calibri" panose="020F0502020204030204" pitchFamily="34" charset="0"/>
            </a:endParaRPr>
          </a:p>
        </p:txBody>
      </p:sp>
    </p:spTree>
    <p:extLst>
      <p:ext uri="{BB962C8B-B14F-4D97-AF65-F5344CB8AC3E}">
        <p14:creationId xmlns:p14="http://schemas.microsoft.com/office/powerpoint/2010/main" val="2122940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63600"/>
          </a:xfrm>
          <a:prstGeom prst="rect">
            <a:avLst/>
          </a:prstGeom>
          <a:solidFill>
            <a:srgbClr val="0B1B2B"/>
          </a:solidFill>
          <a:ln>
            <a:solidFill>
              <a:srgbClr val="0B1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31800" y="152400"/>
            <a:ext cx="9144000" cy="487313"/>
          </a:xfrm>
          <a:prstGeom prst="rect">
            <a:avLst/>
          </a:prstGeom>
          <a:noFill/>
        </p:spPr>
        <p:txBody>
          <a:bodyPr vert="horz" wrap="square" lIns="76200" tIns="50800" rIns="76200" bIns="50800" rtlCol="0">
            <a:spAutoFit/>
          </a:bodyPr>
          <a:lstStyle/>
          <a:p>
            <a:r>
              <a:rPr lang="en-IN" sz="2500" b="1" smtClean="0">
                <a:solidFill>
                  <a:srgbClr val="FFFFFF"/>
                </a:solidFill>
                <a:latin typeface="Calibri" panose="020F0502020204030204" pitchFamily="34" charset="0"/>
              </a:rPr>
              <a:t>Hyperparameter Tuning</a:t>
            </a:r>
            <a:endParaRPr lang="en-IN" sz="2500" b="1">
              <a:solidFill>
                <a:srgbClr val="FFFFFF"/>
              </a:solidFill>
              <a:latin typeface="Calibri" panose="020F0502020204030204" pitchFamily="34" charset="0"/>
            </a:endParaRPr>
          </a:p>
        </p:txBody>
      </p:sp>
      <p:sp>
        <p:nvSpPr>
          <p:cNvPr id="4" name="TextBox 3"/>
          <p:cNvSpPr txBox="1"/>
          <p:nvPr/>
        </p:nvSpPr>
        <p:spPr>
          <a:xfrm>
            <a:off x="9652000" y="215900"/>
            <a:ext cx="2032000" cy="287258"/>
          </a:xfrm>
          <a:prstGeom prst="rect">
            <a:avLst/>
          </a:prstGeom>
          <a:noFill/>
        </p:spPr>
        <p:txBody>
          <a:bodyPr vert="horz" wrap="square" lIns="76200" tIns="50800" rIns="76200" bIns="50800" rtlCol="0">
            <a:spAutoFit/>
          </a:bodyPr>
          <a:lstStyle/>
          <a:p>
            <a:pPr algn="r"/>
            <a:r>
              <a:rPr lang="en-IN" sz="1200" smtClean="0">
                <a:solidFill>
                  <a:srgbClr val="FFFFFF"/>
                </a:solidFill>
                <a:latin typeface="Calibri" panose="020F0502020204030204" pitchFamily="34" charset="0"/>
              </a:rPr>
              <a:t>Model Setup</a:t>
            </a:r>
            <a:endParaRPr lang="en-IN" sz="1200">
              <a:solidFill>
                <a:srgbClr val="FFFFFF"/>
              </a:solidFill>
              <a:latin typeface="Calibri" panose="020F0502020204030204" pitchFamily="34" charset="0"/>
            </a:endParaRPr>
          </a:p>
        </p:txBody>
      </p:sp>
      <p:sp>
        <p:nvSpPr>
          <p:cNvPr id="5" name="Rounded Rectangle 4"/>
          <p:cNvSpPr/>
          <p:nvPr/>
        </p:nvSpPr>
        <p:spPr>
          <a:xfrm>
            <a:off x="698500" y="1206500"/>
            <a:ext cx="2159000" cy="381000"/>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800100" y="1257300"/>
            <a:ext cx="1955800" cy="318036"/>
          </a:xfrm>
          <a:prstGeom prst="rect">
            <a:avLst/>
          </a:prstGeom>
          <a:noFill/>
        </p:spPr>
        <p:txBody>
          <a:bodyPr vert="horz" wrap="square" lIns="76200" tIns="50800" rIns="76200" bIns="50800" rtlCol="0">
            <a:spAutoFit/>
          </a:bodyPr>
          <a:lstStyle/>
          <a:p>
            <a:r>
              <a:rPr lang="en-IN" sz="1400" b="1" smtClean="0">
                <a:solidFill>
                  <a:srgbClr val="FFFFFF"/>
                </a:solidFill>
                <a:latin typeface="Calibri" panose="020F0502020204030204" pitchFamily="34" charset="0"/>
              </a:rPr>
              <a:t>Key Settings</a:t>
            </a:r>
            <a:endParaRPr lang="en-IN" sz="1400" b="1">
              <a:solidFill>
                <a:srgbClr val="FFFFFF"/>
              </a:solidFill>
              <a:latin typeface="Calibri" panose="020F0502020204030204" pitchFamily="34" charset="0"/>
            </a:endParaRPr>
          </a:p>
        </p:txBody>
      </p:sp>
      <p:sp>
        <p:nvSpPr>
          <p:cNvPr id="7" name="TextBox 6"/>
          <p:cNvSpPr txBox="1"/>
          <p:nvPr/>
        </p:nvSpPr>
        <p:spPr>
          <a:xfrm>
            <a:off x="889000" y="1905000"/>
            <a:ext cx="10414000" cy="1846659"/>
          </a:xfrm>
          <a:prstGeom prst="rect">
            <a:avLst/>
          </a:prstGeom>
          <a:noFill/>
        </p:spPr>
        <p:txBody>
          <a:bodyPr vert="horz" wrap="square" lIns="101600" tIns="76200" rIns="101600" bIns="76200" rtlCol="0">
            <a:spAutoFit/>
          </a:bodyPr>
          <a:lstStyle/>
          <a:p>
            <a:pPr marL="342900" indent="-342900">
              <a:spcAft>
                <a:spcPts val="600"/>
              </a:spcAft>
              <a:buFont typeface="+mj-lt"/>
              <a:buChar char="•"/>
            </a:pPr>
            <a:r>
              <a:rPr lang="en-IN" smtClean="0">
                <a:solidFill>
                  <a:srgbClr val="222222"/>
                </a:solidFill>
                <a:latin typeface="Calibri" panose="020F0502020204030204" pitchFamily="34" charset="0"/>
              </a:rPr>
              <a:t>Decision Tree: max_depth = 12, min_samples_leaf = 5</a:t>
            </a:r>
          </a:p>
          <a:p>
            <a:pPr marL="342900" indent="-342900">
              <a:spcAft>
                <a:spcPts val="600"/>
              </a:spcAft>
              <a:buFont typeface="+mj-lt"/>
              <a:buChar char="•"/>
            </a:pPr>
            <a:r>
              <a:rPr lang="en-IN" smtClean="0">
                <a:solidFill>
                  <a:srgbClr val="222222"/>
                </a:solidFill>
                <a:latin typeface="Calibri" panose="020F0502020204030204" pitchFamily="34" charset="0"/>
              </a:rPr>
              <a:t>Random Forest: n_estimators = 200, min_samples_leaf = 2</a:t>
            </a:r>
          </a:p>
          <a:p>
            <a:pPr marL="342900" indent="-342900">
              <a:spcAft>
                <a:spcPts val="600"/>
              </a:spcAft>
              <a:buFont typeface="+mj-lt"/>
              <a:buChar char="•"/>
            </a:pPr>
            <a:r>
              <a:rPr lang="en-IN" smtClean="0">
                <a:solidFill>
                  <a:srgbClr val="222222"/>
                </a:solidFill>
                <a:latin typeface="Calibri" panose="020F0502020204030204" pitchFamily="34" charset="0"/>
              </a:rPr>
              <a:t>Gradient Boosting: n_estimators = 200, learning_rate = 0.03, max_depth = 3</a:t>
            </a:r>
          </a:p>
          <a:p>
            <a:pPr marL="342900" indent="-342900">
              <a:spcAft>
                <a:spcPts val="600"/>
              </a:spcAft>
              <a:buFont typeface="+mj-lt"/>
              <a:buChar char="•"/>
            </a:pPr>
            <a:r>
              <a:rPr lang="en-IN" smtClean="0">
                <a:solidFill>
                  <a:srgbClr val="222222"/>
                </a:solidFill>
                <a:latin typeface="Calibri" panose="020F0502020204030204" pitchFamily="34" charset="0"/>
              </a:rPr>
              <a:t>K-Means: n_clusters = 3, n_init = 20</a:t>
            </a:r>
          </a:p>
          <a:p>
            <a:pPr marL="342900" indent="-342900">
              <a:spcAft>
                <a:spcPts val="600"/>
              </a:spcAft>
              <a:buFont typeface="+mj-lt"/>
              <a:buChar char="•"/>
            </a:pPr>
            <a:r>
              <a:rPr lang="en-IN" smtClean="0">
                <a:solidFill>
                  <a:srgbClr val="222222"/>
                </a:solidFill>
                <a:latin typeface="Calibri" panose="020F0502020204030204" pitchFamily="34" charset="0"/>
              </a:rPr>
              <a:t>Stacking: final_estimator = Ridge(alpha = 10.0), cv = 3</a:t>
            </a:r>
            <a:endParaRPr lang="en-IN">
              <a:solidFill>
                <a:srgbClr val="222222"/>
              </a:solidFill>
              <a:latin typeface="Calibri" panose="020F0502020204030204" pitchFamily="34" charset="0"/>
            </a:endParaRPr>
          </a:p>
        </p:txBody>
      </p:sp>
      <p:sp>
        <p:nvSpPr>
          <p:cNvPr id="8" name="Rounded Rectangle 7"/>
          <p:cNvSpPr/>
          <p:nvPr/>
        </p:nvSpPr>
        <p:spPr>
          <a:xfrm>
            <a:off x="1397000" y="4826000"/>
            <a:ext cx="9271000" cy="736600"/>
          </a:xfrm>
          <a:prstGeom prst="roundRect">
            <a:avLst/>
          </a:prstGeom>
          <a:solidFill>
            <a:srgbClr val="F7F7F7"/>
          </a:solidFill>
          <a:ln>
            <a:solidFill>
              <a:srgbClr val="F7F7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1714500" y="4991100"/>
            <a:ext cx="8636000" cy="595035"/>
          </a:xfrm>
          <a:prstGeom prst="rect">
            <a:avLst/>
          </a:prstGeom>
          <a:noFill/>
        </p:spPr>
        <p:txBody>
          <a:bodyPr vert="horz" wrap="square" lIns="76200" tIns="50800" rIns="76200" bIns="50800" rtlCol="0">
            <a:spAutoFit/>
          </a:bodyPr>
          <a:lstStyle/>
          <a:p>
            <a:pPr algn="ctr"/>
            <a:r>
              <a:rPr lang="en-US" sz="1600" smtClean="0">
                <a:solidFill>
                  <a:srgbClr val="222222"/>
                </a:solidFill>
                <a:latin typeface="Calibri" panose="020F0502020204030204" pitchFamily="34" charset="0"/>
              </a:rPr>
              <a:t>Parameters were chosen to balance accuracy, overfitting control, and runtime. Final selection used validation metrics from model_comparison.csv.</a:t>
            </a:r>
            <a:endParaRPr lang="en-IN" sz="1600">
              <a:solidFill>
                <a:srgbClr val="222222"/>
              </a:solidFill>
              <a:latin typeface="Calibri" panose="020F0502020204030204" pitchFamily="34" charset="0"/>
            </a:endParaRPr>
          </a:p>
        </p:txBody>
      </p:sp>
      <p:sp>
        <p:nvSpPr>
          <p:cNvPr id="10" name="TextBox 9"/>
          <p:cNvSpPr txBox="1"/>
          <p:nvPr/>
        </p:nvSpPr>
        <p:spPr>
          <a:xfrm>
            <a:off x="8763000" y="6451600"/>
            <a:ext cx="2921000" cy="241092"/>
          </a:xfrm>
          <a:prstGeom prst="rect">
            <a:avLst/>
          </a:prstGeom>
          <a:noFill/>
        </p:spPr>
        <p:txBody>
          <a:bodyPr vert="horz" wrap="square" lIns="76200" tIns="50800" rIns="76200" bIns="50800" rtlCol="0">
            <a:spAutoFit/>
          </a:bodyPr>
          <a:lstStyle/>
          <a:p>
            <a:pPr algn="r"/>
            <a:r>
              <a:rPr lang="en-US" sz="900" smtClean="0">
                <a:solidFill>
                  <a:srgbClr val="666666"/>
                </a:solidFill>
                <a:latin typeface="Calibri" panose="020F0502020204030204" pitchFamily="34" charset="0"/>
              </a:rPr>
              <a:t>House Price Prediction | Slide 8</a:t>
            </a:r>
            <a:endParaRPr lang="en-IN" sz="900">
              <a:solidFill>
                <a:srgbClr val="666666"/>
              </a:solidFill>
              <a:latin typeface="Calibri" panose="020F0502020204030204" pitchFamily="34" charset="0"/>
            </a:endParaRPr>
          </a:p>
        </p:txBody>
      </p:sp>
    </p:spTree>
    <p:extLst>
      <p:ext uri="{BB962C8B-B14F-4D97-AF65-F5344CB8AC3E}">
        <p14:creationId xmlns:p14="http://schemas.microsoft.com/office/powerpoint/2010/main" val="1353476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63600"/>
          </a:xfrm>
          <a:prstGeom prst="rect">
            <a:avLst/>
          </a:prstGeom>
          <a:solidFill>
            <a:srgbClr val="0B1B2B"/>
          </a:solidFill>
          <a:ln>
            <a:solidFill>
              <a:srgbClr val="0B1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31800" y="152400"/>
            <a:ext cx="9144000" cy="487313"/>
          </a:xfrm>
          <a:prstGeom prst="rect">
            <a:avLst/>
          </a:prstGeom>
          <a:noFill/>
        </p:spPr>
        <p:txBody>
          <a:bodyPr vert="horz" wrap="square" lIns="76200" tIns="50800" rIns="76200" bIns="50800" rtlCol="0">
            <a:spAutoFit/>
          </a:bodyPr>
          <a:lstStyle/>
          <a:p>
            <a:r>
              <a:rPr lang="en-IN" sz="2500" b="1" smtClean="0">
                <a:solidFill>
                  <a:srgbClr val="FFFFFF"/>
                </a:solidFill>
                <a:latin typeface="Calibri" panose="020F0502020204030204" pitchFamily="34" charset="0"/>
              </a:rPr>
              <a:t>Evaluation Metrics &amp; Results</a:t>
            </a:r>
            <a:endParaRPr lang="en-IN" sz="2500" b="1">
              <a:solidFill>
                <a:srgbClr val="FFFFFF"/>
              </a:solidFill>
              <a:latin typeface="Calibri" panose="020F0502020204030204" pitchFamily="34" charset="0"/>
            </a:endParaRPr>
          </a:p>
        </p:txBody>
      </p:sp>
      <p:sp>
        <p:nvSpPr>
          <p:cNvPr id="4" name="TextBox 3"/>
          <p:cNvSpPr txBox="1"/>
          <p:nvPr/>
        </p:nvSpPr>
        <p:spPr>
          <a:xfrm>
            <a:off x="9652000" y="215900"/>
            <a:ext cx="2032000" cy="287258"/>
          </a:xfrm>
          <a:prstGeom prst="rect">
            <a:avLst/>
          </a:prstGeom>
          <a:noFill/>
        </p:spPr>
        <p:txBody>
          <a:bodyPr vert="horz" wrap="square" lIns="76200" tIns="50800" rIns="76200" bIns="50800" rtlCol="0">
            <a:spAutoFit/>
          </a:bodyPr>
          <a:lstStyle/>
          <a:p>
            <a:pPr algn="r"/>
            <a:r>
              <a:rPr lang="en-IN" sz="1200" smtClean="0">
                <a:solidFill>
                  <a:srgbClr val="FFFFFF"/>
                </a:solidFill>
                <a:latin typeface="Calibri" panose="020F0502020204030204" pitchFamily="34" charset="0"/>
              </a:rPr>
              <a:t>Comparison</a:t>
            </a:r>
            <a:endParaRPr lang="en-IN" sz="1200">
              <a:solidFill>
                <a:srgbClr val="FFFFFF"/>
              </a:solidFill>
              <a:latin typeface="Calibri" panose="020F0502020204030204" pitchFamily="34" charset="0"/>
            </a:endParaRPr>
          </a:p>
        </p:txBody>
      </p:sp>
      <p:sp>
        <p:nvSpPr>
          <p:cNvPr id="5" name="TextBox 4"/>
          <p:cNvSpPr txBox="1"/>
          <p:nvPr/>
        </p:nvSpPr>
        <p:spPr>
          <a:xfrm>
            <a:off x="698500" y="1168400"/>
            <a:ext cx="10414000" cy="1092607"/>
          </a:xfrm>
          <a:prstGeom prst="rect">
            <a:avLst/>
          </a:prstGeom>
          <a:noFill/>
        </p:spPr>
        <p:txBody>
          <a:bodyPr vert="horz" wrap="square" lIns="101600" tIns="76200" rIns="101600" bIns="76200" rtlCol="0">
            <a:spAutoFit/>
          </a:bodyPr>
          <a:lstStyle/>
          <a:p>
            <a:pPr marL="342900" indent="-342900">
              <a:spcAft>
                <a:spcPts val="600"/>
              </a:spcAft>
              <a:buFont typeface="+mj-lt"/>
              <a:buChar char="•"/>
            </a:pPr>
            <a:r>
              <a:rPr lang="en-US" sz="1700" smtClean="0">
                <a:solidFill>
                  <a:srgbClr val="222222"/>
                </a:solidFill>
                <a:latin typeface="Calibri" panose="020F0502020204030204" pitchFamily="34" charset="0"/>
              </a:rPr>
              <a:t>Main metrics: RMSE_Log, RMSE_Dollars, MAE_Dollars, R2</a:t>
            </a:r>
          </a:p>
          <a:p>
            <a:pPr marL="342900" indent="-342900">
              <a:spcAft>
                <a:spcPts val="600"/>
              </a:spcAft>
              <a:buFont typeface="+mj-lt"/>
              <a:buChar char="•"/>
            </a:pPr>
            <a:r>
              <a:rPr lang="en-US" sz="1700" smtClean="0">
                <a:solidFill>
                  <a:srgbClr val="222222"/>
                </a:solidFill>
                <a:latin typeface="Calibri" panose="020F0502020204030204" pitchFamily="34" charset="0"/>
              </a:rPr>
              <a:t>Practical metrics: Accuracy Within 10 percent and 20 percent</a:t>
            </a:r>
          </a:p>
          <a:p>
            <a:pPr marL="342900" indent="-342900">
              <a:spcAft>
                <a:spcPts val="600"/>
              </a:spcAft>
              <a:buFont typeface="+mj-lt"/>
              <a:buChar char="•"/>
            </a:pPr>
            <a:r>
              <a:rPr lang="en-US" sz="1700" smtClean="0">
                <a:solidFill>
                  <a:srgbClr val="222222"/>
                </a:solidFill>
                <a:latin typeface="Calibri" panose="020F0502020204030204" pitchFamily="34" charset="0"/>
              </a:rPr>
              <a:t>Binned price accuracy: Low / Medium / High price group accuracy</a:t>
            </a:r>
            <a:endParaRPr lang="en-IN" sz="1700">
              <a:solidFill>
                <a:srgbClr val="222222"/>
              </a:solidFill>
              <a:latin typeface="Calibri" panose="020F0502020204030204" pitchFamily="34" charset="0"/>
            </a:endParaRPr>
          </a:p>
        </p:txBody>
      </p:sp>
      <p:sp>
        <p:nvSpPr>
          <p:cNvPr id="6" name="Rectangle 5"/>
          <p:cNvSpPr/>
          <p:nvPr/>
        </p:nvSpPr>
        <p:spPr>
          <a:xfrm>
            <a:off x="825500" y="2667000"/>
            <a:ext cx="2667000" cy="444500"/>
          </a:xfrm>
          <a:prstGeom prst="rect">
            <a:avLst/>
          </a:prstGeom>
          <a:solidFill>
            <a:srgbClr val="0070C0"/>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876300" y="2755900"/>
            <a:ext cx="2565400" cy="318036"/>
          </a:xfrm>
          <a:prstGeom prst="rect">
            <a:avLst/>
          </a:prstGeom>
          <a:noFill/>
        </p:spPr>
        <p:txBody>
          <a:bodyPr vert="horz" wrap="square" lIns="76200" tIns="50800" rIns="76200" bIns="50800" rtlCol="0">
            <a:spAutoFit/>
          </a:bodyPr>
          <a:lstStyle/>
          <a:p>
            <a:pPr algn="ctr"/>
            <a:r>
              <a:rPr lang="en-IN" sz="1400" b="1" smtClean="0">
                <a:solidFill>
                  <a:srgbClr val="FFFFFF"/>
                </a:solidFill>
                <a:latin typeface="Calibri" panose="020F0502020204030204" pitchFamily="34" charset="0"/>
              </a:rPr>
              <a:t>Model</a:t>
            </a:r>
            <a:endParaRPr lang="en-IN" sz="1400" b="1">
              <a:solidFill>
                <a:srgbClr val="FFFFFF"/>
              </a:solidFill>
              <a:latin typeface="Calibri" panose="020F0502020204030204" pitchFamily="34" charset="0"/>
            </a:endParaRPr>
          </a:p>
        </p:txBody>
      </p:sp>
      <p:sp>
        <p:nvSpPr>
          <p:cNvPr id="8" name="Rectangle 7"/>
          <p:cNvSpPr/>
          <p:nvPr/>
        </p:nvSpPr>
        <p:spPr>
          <a:xfrm>
            <a:off x="3492500" y="2667000"/>
            <a:ext cx="1841500" cy="444500"/>
          </a:xfrm>
          <a:prstGeom prst="rect">
            <a:avLst/>
          </a:prstGeom>
          <a:solidFill>
            <a:srgbClr val="0070C0"/>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543300" y="2755900"/>
            <a:ext cx="1739900" cy="318036"/>
          </a:xfrm>
          <a:prstGeom prst="rect">
            <a:avLst/>
          </a:prstGeom>
          <a:noFill/>
        </p:spPr>
        <p:txBody>
          <a:bodyPr vert="horz" wrap="square" lIns="76200" tIns="50800" rIns="76200" bIns="50800" rtlCol="0">
            <a:spAutoFit/>
          </a:bodyPr>
          <a:lstStyle/>
          <a:p>
            <a:pPr algn="ctr"/>
            <a:r>
              <a:rPr lang="en-IN" sz="1400" b="1" smtClean="0">
                <a:solidFill>
                  <a:srgbClr val="FFFFFF"/>
                </a:solidFill>
                <a:latin typeface="Calibri" panose="020F0502020204030204" pitchFamily="34" charset="0"/>
              </a:rPr>
              <a:t>RMSE_Log</a:t>
            </a:r>
            <a:endParaRPr lang="en-IN" sz="1400" b="1">
              <a:solidFill>
                <a:srgbClr val="FFFFFF"/>
              </a:solidFill>
              <a:latin typeface="Calibri" panose="020F0502020204030204" pitchFamily="34" charset="0"/>
            </a:endParaRPr>
          </a:p>
        </p:txBody>
      </p:sp>
      <p:sp>
        <p:nvSpPr>
          <p:cNvPr id="10" name="Rectangle 9"/>
          <p:cNvSpPr/>
          <p:nvPr/>
        </p:nvSpPr>
        <p:spPr>
          <a:xfrm>
            <a:off x="5334000" y="2667000"/>
            <a:ext cx="1524000" cy="444500"/>
          </a:xfrm>
          <a:prstGeom prst="rect">
            <a:avLst/>
          </a:prstGeom>
          <a:solidFill>
            <a:srgbClr val="0070C0"/>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a:off x="5384800" y="2755900"/>
            <a:ext cx="1422400" cy="318036"/>
          </a:xfrm>
          <a:prstGeom prst="rect">
            <a:avLst/>
          </a:prstGeom>
          <a:noFill/>
        </p:spPr>
        <p:txBody>
          <a:bodyPr vert="horz" wrap="square" lIns="76200" tIns="50800" rIns="76200" bIns="50800" rtlCol="0">
            <a:spAutoFit/>
          </a:bodyPr>
          <a:lstStyle/>
          <a:p>
            <a:pPr algn="ctr"/>
            <a:r>
              <a:rPr lang="en-IN" sz="1400" b="1" smtClean="0">
                <a:solidFill>
                  <a:srgbClr val="FFFFFF"/>
                </a:solidFill>
                <a:latin typeface="Calibri" panose="020F0502020204030204" pitchFamily="34" charset="0"/>
              </a:rPr>
              <a:t>R2</a:t>
            </a:r>
            <a:endParaRPr lang="en-IN" sz="1400" b="1">
              <a:solidFill>
                <a:srgbClr val="FFFFFF"/>
              </a:solidFill>
              <a:latin typeface="Calibri" panose="020F0502020204030204" pitchFamily="34" charset="0"/>
            </a:endParaRPr>
          </a:p>
        </p:txBody>
      </p:sp>
      <p:sp>
        <p:nvSpPr>
          <p:cNvPr id="12" name="Rectangle 11"/>
          <p:cNvSpPr/>
          <p:nvPr/>
        </p:nvSpPr>
        <p:spPr>
          <a:xfrm>
            <a:off x="6858000" y="2667000"/>
            <a:ext cx="2159000" cy="444500"/>
          </a:xfrm>
          <a:prstGeom prst="rect">
            <a:avLst/>
          </a:prstGeom>
          <a:solidFill>
            <a:srgbClr val="0070C0"/>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6908800" y="2755900"/>
            <a:ext cx="2057400" cy="318036"/>
          </a:xfrm>
          <a:prstGeom prst="rect">
            <a:avLst/>
          </a:prstGeom>
          <a:noFill/>
        </p:spPr>
        <p:txBody>
          <a:bodyPr vert="horz" wrap="square" lIns="76200" tIns="50800" rIns="76200" bIns="50800" rtlCol="0">
            <a:spAutoFit/>
          </a:bodyPr>
          <a:lstStyle/>
          <a:p>
            <a:pPr algn="ctr"/>
            <a:r>
              <a:rPr lang="en-IN" sz="1400" b="1" smtClean="0">
                <a:solidFill>
                  <a:srgbClr val="FFFFFF"/>
                </a:solidFill>
                <a:latin typeface="Calibri" panose="020F0502020204030204" pitchFamily="34" charset="0"/>
              </a:rPr>
              <a:t>Within 10%</a:t>
            </a:r>
            <a:endParaRPr lang="en-IN" sz="1400" b="1">
              <a:solidFill>
                <a:srgbClr val="FFFFFF"/>
              </a:solidFill>
              <a:latin typeface="Calibri" panose="020F0502020204030204" pitchFamily="34" charset="0"/>
            </a:endParaRPr>
          </a:p>
        </p:txBody>
      </p:sp>
      <p:sp>
        <p:nvSpPr>
          <p:cNvPr id="14" name="Rectangle 13"/>
          <p:cNvSpPr/>
          <p:nvPr/>
        </p:nvSpPr>
        <p:spPr>
          <a:xfrm>
            <a:off x="9017000" y="2667000"/>
            <a:ext cx="2159000" cy="444500"/>
          </a:xfrm>
          <a:prstGeom prst="rect">
            <a:avLst/>
          </a:prstGeom>
          <a:solidFill>
            <a:srgbClr val="0070C0"/>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a:off x="9067800" y="2755900"/>
            <a:ext cx="2057400" cy="318036"/>
          </a:xfrm>
          <a:prstGeom prst="rect">
            <a:avLst/>
          </a:prstGeom>
          <a:noFill/>
        </p:spPr>
        <p:txBody>
          <a:bodyPr vert="horz" wrap="square" lIns="76200" tIns="50800" rIns="76200" bIns="50800" rtlCol="0">
            <a:spAutoFit/>
          </a:bodyPr>
          <a:lstStyle/>
          <a:p>
            <a:pPr algn="ctr"/>
            <a:r>
              <a:rPr lang="en-IN" sz="1400" b="1" smtClean="0">
                <a:solidFill>
                  <a:srgbClr val="FFFFFF"/>
                </a:solidFill>
                <a:latin typeface="Calibri" panose="020F0502020204030204" pitchFamily="34" charset="0"/>
              </a:rPr>
              <a:t>Binned Acc.</a:t>
            </a:r>
            <a:endParaRPr lang="en-IN" sz="1400" b="1">
              <a:solidFill>
                <a:srgbClr val="FFFFFF"/>
              </a:solidFill>
              <a:latin typeface="Calibri" panose="020F0502020204030204" pitchFamily="34" charset="0"/>
            </a:endParaRPr>
          </a:p>
        </p:txBody>
      </p:sp>
      <p:sp>
        <p:nvSpPr>
          <p:cNvPr id="16" name="Rectangle 15"/>
          <p:cNvSpPr/>
          <p:nvPr/>
        </p:nvSpPr>
        <p:spPr>
          <a:xfrm>
            <a:off x="825500" y="3111500"/>
            <a:ext cx="2667000" cy="444500"/>
          </a:xfrm>
          <a:prstGeom prst="rect">
            <a:avLst/>
          </a:prstGeom>
          <a:solidFill>
            <a:srgbClr val="E3F2EA"/>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p:cNvSpPr txBox="1"/>
          <p:nvPr/>
        </p:nvSpPr>
        <p:spPr>
          <a:xfrm>
            <a:off x="876300" y="3200400"/>
            <a:ext cx="2565400" cy="302647"/>
          </a:xfrm>
          <a:prstGeom prst="rect">
            <a:avLst/>
          </a:prstGeom>
          <a:noFill/>
        </p:spPr>
        <p:txBody>
          <a:bodyPr vert="horz" wrap="square" lIns="76200" tIns="50800" rIns="76200" bIns="50800" rtlCol="0">
            <a:spAutoFit/>
          </a:bodyPr>
          <a:lstStyle/>
          <a:p>
            <a:pPr algn="ctr"/>
            <a:r>
              <a:rPr lang="en-IN" sz="1300" b="1" smtClean="0">
                <a:solidFill>
                  <a:srgbClr val="222222"/>
                </a:solidFill>
                <a:latin typeface="Calibri" panose="020F0502020204030204" pitchFamily="34" charset="0"/>
              </a:rPr>
              <a:t>Stacking</a:t>
            </a:r>
            <a:endParaRPr lang="en-IN" sz="1300" b="1">
              <a:solidFill>
                <a:srgbClr val="222222"/>
              </a:solidFill>
              <a:latin typeface="Calibri" panose="020F0502020204030204" pitchFamily="34" charset="0"/>
            </a:endParaRPr>
          </a:p>
        </p:txBody>
      </p:sp>
      <p:sp>
        <p:nvSpPr>
          <p:cNvPr id="18" name="Rectangle 17"/>
          <p:cNvSpPr/>
          <p:nvPr/>
        </p:nvSpPr>
        <p:spPr>
          <a:xfrm>
            <a:off x="3492500" y="3111500"/>
            <a:ext cx="1841500" cy="444500"/>
          </a:xfrm>
          <a:prstGeom prst="rect">
            <a:avLst/>
          </a:prstGeom>
          <a:solidFill>
            <a:srgbClr val="E3F2EA"/>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p:cNvSpPr txBox="1"/>
          <p:nvPr/>
        </p:nvSpPr>
        <p:spPr>
          <a:xfrm>
            <a:off x="3543300" y="3200400"/>
            <a:ext cx="17399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0.1319</a:t>
            </a:r>
            <a:endParaRPr lang="en-IN" sz="1300">
              <a:solidFill>
                <a:srgbClr val="222222"/>
              </a:solidFill>
              <a:latin typeface="Calibri" panose="020F0502020204030204" pitchFamily="34" charset="0"/>
            </a:endParaRPr>
          </a:p>
        </p:txBody>
      </p:sp>
      <p:sp>
        <p:nvSpPr>
          <p:cNvPr id="20" name="Rectangle 19"/>
          <p:cNvSpPr/>
          <p:nvPr/>
        </p:nvSpPr>
        <p:spPr>
          <a:xfrm>
            <a:off x="5334000" y="3111500"/>
            <a:ext cx="1524000" cy="444500"/>
          </a:xfrm>
          <a:prstGeom prst="rect">
            <a:avLst/>
          </a:prstGeom>
          <a:solidFill>
            <a:srgbClr val="E3F2EA"/>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p:cNvSpPr txBox="1"/>
          <p:nvPr/>
        </p:nvSpPr>
        <p:spPr>
          <a:xfrm>
            <a:off x="5384800" y="3200400"/>
            <a:ext cx="1422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0.9068</a:t>
            </a:r>
            <a:endParaRPr lang="en-IN" sz="1300">
              <a:solidFill>
                <a:srgbClr val="222222"/>
              </a:solidFill>
              <a:latin typeface="Calibri" panose="020F0502020204030204" pitchFamily="34" charset="0"/>
            </a:endParaRPr>
          </a:p>
        </p:txBody>
      </p:sp>
      <p:sp>
        <p:nvSpPr>
          <p:cNvPr id="22" name="Rectangle 21"/>
          <p:cNvSpPr/>
          <p:nvPr/>
        </p:nvSpPr>
        <p:spPr>
          <a:xfrm>
            <a:off x="6858000" y="3111500"/>
            <a:ext cx="2159000" cy="444500"/>
          </a:xfrm>
          <a:prstGeom prst="rect">
            <a:avLst/>
          </a:prstGeom>
          <a:solidFill>
            <a:srgbClr val="E3F2EA"/>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p:cNvSpPr txBox="1"/>
          <p:nvPr/>
        </p:nvSpPr>
        <p:spPr>
          <a:xfrm>
            <a:off x="6908800" y="3200400"/>
            <a:ext cx="2057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71.58%</a:t>
            </a:r>
            <a:endParaRPr lang="en-IN" sz="1300">
              <a:solidFill>
                <a:srgbClr val="222222"/>
              </a:solidFill>
              <a:latin typeface="Calibri" panose="020F0502020204030204" pitchFamily="34" charset="0"/>
            </a:endParaRPr>
          </a:p>
        </p:txBody>
      </p:sp>
      <p:sp>
        <p:nvSpPr>
          <p:cNvPr id="24" name="Rectangle 23"/>
          <p:cNvSpPr/>
          <p:nvPr/>
        </p:nvSpPr>
        <p:spPr>
          <a:xfrm>
            <a:off x="9017000" y="3111500"/>
            <a:ext cx="2159000" cy="444500"/>
          </a:xfrm>
          <a:prstGeom prst="rect">
            <a:avLst/>
          </a:prstGeom>
          <a:solidFill>
            <a:srgbClr val="E3F2EA"/>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p:cNvSpPr txBox="1"/>
          <p:nvPr/>
        </p:nvSpPr>
        <p:spPr>
          <a:xfrm>
            <a:off x="9067800" y="3200400"/>
            <a:ext cx="2057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85.96%</a:t>
            </a:r>
            <a:endParaRPr lang="en-IN" sz="1300">
              <a:solidFill>
                <a:srgbClr val="222222"/>
              </a:solidFill>
              <a:latin typeface="Calibri" panose="020F0502020204030204" pitchFamily="34" charset="0"/>
            </a:endParaRPr>
          </a:p>
        </p:txBody>
      </p:sp>
      <p:sp>
        <p:nvSpPr>
          <p:cNvPr id="26" name="Rectangle 25"/>
          <p:cNvSpPr/>
          <p:nvPr/>
        </p:nvSpPr>
        <p:spPr>
          <a:xfrm>
            <a:off x="825500" y="3556000"/>
            <a:ext cx="2667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p:cNvSpPr txBox="1"/>
          <p:nvPr/>
        </p:nvSpPr>
        <p:spPr>
          <a:xfrm>
            <a:off x="876300" y="3644900"/>
            <a:ext cx="2565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Linear Reg.</a:t>
            </a:r>
            <a:endParaRPr lang="en-IN" sz="1300">
              <a:solidFill>
                <a:srgbClr val="222222"/>
              </a:solidFill>
              <a:latin typeface="Calibri" panose="020F0502020204030204" pitchFamily="34" charset="0"/>
            </a:endParaRPr>
          </a:p>
        </p:txBody>
      </p:sp>
      <p:sp>
        <p:nvSpPr>
          <p:cNvPr id="28" name="Rectangle 27"/>
          <p:cNvSpPr/>
          <p:nvPr/>
        </p:nvSpPr>
        <p:spPr>
          <a:xfrm>
            <a:off x="3492500" y="3556000"/>
            <a:ext cx="18415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p:cNvSpPr txBox="1"/>
          <p:nvPr/>
        </p:nvSpPr>
        <p:spPr>
          <a:xfrm>
            <a:off x="3543300" y="3644900"/>
            <a:ext cx="17399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0.1326</a:t>
            </a:r>
            <a:endParaRPr lang="en-IN" sz="1300">
              <a:solidFill>
                <a:srgbClr val="222222"/>
              </a:solidFill>
              <a:latin typeface="Calibri" panose="020F0502020204030204" pitchFamily="34" charset="0"/>
            </a:endParaRPr>
          </a:p>
        </p:txBody>
      </p:sp>
      <p:sp>
        <p:nvSpPr>
          <p:cNvPr id="30" name="Rectangle 29"/>
          <p:cNvSpPr/>
          <p:nvPr/>
        </p:nvSpPr>
        <p:spPr>
          <a:xfrm>
            <a:off x="5334000" y="3556000"/>
            <a:ext cx="1524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p:cNvSpPr txBox="1"/>
          <p:nvPr/>
        </p:nvSpPr>
        <p:spPr>
          <a:xfrm>
            <a:off x="5384800" y="3644900"/>
            <a:ext cx="1422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0.9058</a:t>
            </a:r>
            <a:endParaRPr lang="en-IN" sz="1300">
              <a:solidFill>
                <a:srgbClr val="222222"/>
              </a:solidFill>
              <a:latin typeface="Calibri" panose="020F0502020204030204" pitchFamily="34" charset="0"/>
            </a:endParaRPr>
          </a:p>
        </p:txBody>
      </p:sp>
      <p:sp>
        <p:nvSpPr>
          <p:cNvPr id="32" name="Rectangle 31"/>
          <p:cNvSpPr/>
          <p:nvPr/>
        </p:nvSpPr>
        <p:spPr>
          <a:xfrm>
            <a:off x="6858000" y="3556000"/>
            <a:ext cx="2159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p:cNvSpPr txBox="1"/>
          <p:nvPr/>
        </p:nvSpPr>
        <p:spPr>
          <a:xfrm>
            <a:off x="6908800" y="3644900"/>
            <a:ext cx="2057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69.52%</a:t>
            </a:r>
            <a:endParaRPr lang="en-IN" sz="1300">
              <a:solidFill>
                <a:srgbClr val="222222"/>
              </a:solidFill>
              <a:latin typeface="Calibri" panose="020F0502020204030204" pitchFamily="34" charset="0"/>
            </a:endParaRPr>
          </a:p>
        </p:txBody>
      </p:sp>
      <p:sp>
        <p:nvSpPr>
          <p:cNvPr id="34" name="Rectangle 33"/>
          <p:cNvSpPr/>
          <p:nvPr/>
        </p:nvSpPr>
        <p:spPr>
          <a:xfrm>
            <a:off x="9017000" y="3556000"/>
            <a:ext cx="2159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p:cNvSpPr txBox="1"/>
          <p:nvPr/>
        </p:nvSpPr>
        <p:spPr>
          <a:xfrm>
            <a:off x="9067800" y="3644900"/>
            <a:ext cx="2057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84.25%</a:t>
            </a:r>
            <a:endParaRPr lang="en-IN" sz="1300">
              <a:solidFill>
                <a:srgbClr val="222222"/>
              </a:solidFill>
              <a:latin typeface="Calibri" panose="020F0502020204030204" pitchFamily="34" charset="0"/>
            </a:endParaRPr>
          </a:p>
        </p:txBody>
      </p:sp>
      <p:sp>
        <p:nvSpPr>
          <p:cNvPr id="36" name="Rectangle 35"/>
          <p:cNvSpPr/>
          <p:nvPr/>
        </p:nvSpPr>
        <p:spPr>
          <a:xfrm>
            <a:off x="825500" y="4000500"/>
            <a:ext cx="2667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p:cNvSpPr txBox="1"/>
          <p:nvPr/>
        </p:nvSpPr>
        <p:spPr>
          <a:xfrm>
            <a:off x="876300" y="4089400"/>
            <a:ext cx="2565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Grad Boost</a:t>
            </a:r>
            <a:endParaRPr lang="en-IN" sz="1300">
              <a:solidFill>
                <a:srgbClr val="222222"/>
              </a:solidFill>
              <a:latin typeface="Calibri" panose="020F0502020204030204" pitchFamily="34" charset="0"/>
            </a:endParaRPr>
          </a:p>
        </p:txBody>
      </p:sp>
      <p:sp>
        <p:nvSpPr>
          <p:cNvPr id="38" name="Rectangle 37"/>
          <p:cNvSpPr/>
          <p:nvPr/>
        </p:nvSpPr>
        <p:spPr>
          <a:xfrm>
            <a:off x="3492500" y="4000500"/>
            <a:ext cx="18415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p:cNvSpPr txBox="1"/>
          <p:nvPr/>
        </p:nvSpPr>
        <p:spPr>
          <a:xfrm>
            <a:off x="3543300" y="4089400"/>
            <a:ext cx="17399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0.1395</a:t>
            </a:r>
            <a:endParaRPr lang="en-IN" sz="1300">
              <a:solidFill>
                <a:srgbClr val="222222"/>
              </a:solidFill>
              <a:latin typeface="Calibri" panose="020F0502020204030204" pitchFamily="34" charset="0"/>
            </a:endParaRPr>
          </a:p>
        </p:txBody>
      </p:sp>
      <p:sp>
        <p:nvSpPr>
          <p:cNvPr id="40" name="Rectangle 39"/>
          <p:cNvSpPr/>
          <p:nvPr/>
        </p:nvSpPr>
        <p:spPr>
          <a:xfrm>
            <a:off x="5334000" y="4000500"/>
            <a:ext cx="1524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p:cNvSpPr txBox="1"/>
          <p:nvPr/>
        </p:nvSpPr>
        <p:spPr>
          <a:xfrm>
            <a:off x="5384800" y="4089400"/>
            <a:ext cx="1422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0.8957</a:t>
            </a:r>
            <a:endParaRPr lang="en-IN" sz="1300">
              <a:solidFill>
                <a:srgbClr val="222222"/>
              </a:solidFill>
              <a:latin typeface="Calibri" panose="020F0502020204030204" pitchFamily="34" charset="0"/>
            </a:endParaRPr>
          </a:p>
        </p:txBody>
      </p:sp>
      <p:sp>
        <p:nvSpPr>
          <p:cNvPr id="42" name="Rectangle 41"/>
          <p:cNvSpPr/>
          <p:nvPr/>
        </p:nvSpPr>
        <p:spPr>
          <a:xfrm>
            <a:off x="6858000" y="4000500"/>
            <a:ext cx="2159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p:cNvSpPr txBox="1"/>
          <p:nvPr/>
        </p:nvSpPr>
        <p:spPr>
          <a:xfrm>
            <a:off x="6908800" y="4089400"/>
            <a:ext cx="2057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69.86%</a:t>
            </a:r>
            <a:endParaRPr lang="en-IN" sz="1300">
              <a:solidFill>
                <a:srgbClr val="222222"/>
              </a:solidFill>
              <a:latin typeface="Calibri" panose="020F0502020204030204" pitchFamily="34" charset="0"/>
            </a:endParaRPr>
          </a:p>
        </p:txBody>
      </p:sp>
      <p:sp>
        <p:nvSpPr>
          <p:cNvPr id="44" name="Rectangle 43"/>
          <p:cNvSpPr/>
          <p:nvPr/>
        </p:nvSpPr>
        <p:spPr>
          <a:xfrm>
            <a:off x="9017000" y="4000500"/>
            <a:ext cx="2159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p:cNvSpPr txBox="1"/>
          <p:nvPr/>
        </p:nvSpPr>
        <p:spPr>
          <a:xfrm>
            <a:off x="9067800" y="4089400"/>
            <a:ext cx="2057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87.33%</a:t>
            </a:r>
            <a:endParaRPr lang="en-IN" sz="1300">
              <a:solidFill>
                <a:srgbClr val="222222"/>
              </a:solidFill>
              <a:latin typeface="Calibri" panose="020F0502020204030204" pitchFamily="34" charset="0"/>
            </a:endParaRPr>
          </a:p>
        </p:txBody>
      </p:sp>
      <p:sp>
        <p:nvSpPr>
          <p:cNvPr id="46" name="Rectangle 45"/>
          <p:cNvSpPr/>
          <p:nvPr/>
        </p:nvSpPr>
        <p:spPr>
          <a:xfrm>
            <a:off x="825500" y="4445000"/>
            <a:ext cx="2667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Box 46"/>
          <p:cNvSpPr txBox="1"/>
          <p:nvPr/>
        </p:nvSpPr>
        <p:spPr>
          <a:xfrm>
            <a:off x="876300" y="4533900"/>
            <a:ext cx="2565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Random Forest</a:t>
            </a:r>
            <a:endParaRPr lang="en-IN" sz="1300">
              <a:solidFill>
                <a:srgbClr val="222222"/>
              </a:solidFill>
              <a:latin typeface="Calibri" panose="020F0502020204030204" pitchFamily="34" charset="0"/>
            </a:endParaRPr>
          </a:p>
        </p:txBody>
      </p:sp>
      <p:sp>
        <p:nvSpPr>
          <p:cNvPr id="48" name="Rectangle 47"/>
          <p:cNvSpPr/>
          <p:nvPr/>
        </p:nvSpPr>
        <p:spPr>
          <a:xfrm>
            <a:off x="3492500" y="4445000"/>
            <a:ext cx="18415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p:cNvSpPr txBox="1"/>
          <p:nvPr/>
        </p:nvSpPr>
        <p:spPr>
          <a:xfrm>
            <a:off x="3543300" y="4533900"/>
            <a:ext cx="17399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0.1478</a:t>
            </a:r>
            <a:endParaRPr lang="en-IN" sz="1300">
              <a:solidFill>
                <a:srgbClr val="222222"/>
              </a:solidFill>
              <a:latin typeface="Calibri" panose="020F0502020204030204" pitchFamily="34" charset="0"/>
            </a:endParaRPr>
          </a:p>
        </p:txBody>
      </p:sp>
      <p:sp>
        <p:nvSpPr>
          <p:cNvPr id="50" name="Rectangle 49"/>
          <p:cNvSpPr/>
          <p:nvPr/>
        </p:nvSpPr>
        <p:spPr>
          <a:xfrm>
            <a:off x="5334000" y="4445000"/>
            <a:ext cx="1524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p:cNvSpPr txBox="1"/>
          <p:nvPr/>
        </p:nvSpPr>
        <p:spPr>
          <a:xfrm>
            <a:off x="5384800" y="4533900"/>
            <a:ext cx="1422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0.8829</a:t>
            </a:r>
            <a:endParaRPr lang="en-IN" sz="1300">
              <a:solidFill>
                <a:srgbClr val="222222"/>
              </a:solidFill>
              <a:latin typeface="Calibri" panose="020F0502020204030204" pitchFamily="34" charset="0"/>
            </a:endParaRPr>
          </a:p>
        </p:txBody>
      </p:sp>
      <p:sp>
        <p:nvSpPr>
          <p:cNvPr id="52" name="Rectangle 51"/>
          <p:cNvSpPr/>
          <p:nvPr/>
        </p:nvSpPr>
        <p:spPr>
          <a:xfrm>
            <a:off x="6858000" y="4445000"/>
            <a:ext cx="2159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TextBox 52"/>
          <p:cNvSpPr txBox="1"/>
          <p:nvPr/>
        </p:nvSpPr>
        <p:spPr>
          <a:xfrm>
            <a:off x="6908800" y="4533900"/>
            <a:ext cx="2057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66.44%</a:t>
            </a:r>
            <a:endParaRPr lang="en-IN" sz="1300">
              <a:solidFill>
                <a:srgbClr val="222222"/>
              </a:solidFill>
              <a:latin typeface="Calibri" panose="020F0502020204030204" pitchFamily="34" charset="0"/>
            </a:endParaRPr>
          </a:p>
        </p:txBody>
      </p:sp>
      <p:sp>
        <p:nvSpPr>
          <p:cNvPr id="54" name="Rectangle 53"/>
          <p:cNvSpPr/>
          <p:nvPr/>
        </p:nvSpPr>
        <p:spPr>
          <a:xfrm>
            <a:off x="9017000" y="4445000"/>
            <a:ext cx="2159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TextBox 54"/>
          <p:cNvSpPr txBox="1"/>
          <p:nvPr/>
        </p:nvSpPr>
        <p:spPr>
          <a:xfrm>
            <a:off x="9067800" y="4533900"/>
            <a:ext cx="2057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85.62%</a:t>
            </a:r>
            <a:endParaRPr lang="en-IN" sz="1300">
              <a:solidFill>
                <a:srgbClr val="222222"/>
              </a:solidFill>
              <a:latin typeface="Calibri" panose="020F0502020204030204" pitchFamily="34" charset="0"/>
            </a:endParaRPr>
          </a:p>
        </p:txBody>
      </p:sp>
      <p:sp>
        <p:nvSpPr>
          <p:cNvPr id="56" name="Rectangle 55"/>
          <p:cNvSpPr/>
          <p:nvPr/>
        </p:nvSpPr>
        <p:spPr>
          <a:xfrm>
            <a:off x="825500" y="4889500"/>
            <a:ext cx="2667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TextBox 56"/>
          <p:cNvSpPr txBox="1"/>
          <p:nvPr/>
        </p:nvSpPr>
        <p:spPr>
          <a:xfrm>
            <a:off x="876300" y="4978400"/>
            <a:ext cx="2565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Decision Tree</a:t>
            </a:r>
            <a:endParaRPr lang="en-IN" sz="1300">
              <a:solidFill>
                <a:srgbClr val="222222"/>
              </a:solidFill>
              <a:latin typeface="Calibri" panose="020F0502020204030204" pitchFamily="34" charset="0"/>
            </a:endParaRPr>
          </a:p>
        </p:txBody>
      </p:sp>
      <p:sp>
        <p:nvSpPr>
          <p:cNvPr id="58" name="Rectangle 57"/>
          <p:cNvSpPr/>
          <p:nvPr/>
        </p:nvSpPr>
        <p:spPr>
          <a:xfrm>
            <a:off x="3492500" y="4889500"/>
            <a:ext cx="18415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TextBox 58"/>
          <p:cNvSpPr txBox="1"/>
          <p:nvPr/>
        </p:nvSpPr>
        <p:spPr>
          <a:xfrm>
            <a:off x="3543300" y="4978400"/>
            <a:ext cx="17399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0.1941</a:t>
            </a:r>
            <a:endParaRPr lang="en-IN" sz="1300">
              <a:solidFill>
                <a:srgbClr val="222222"/>
              </a:solidFill>
              <a:latin typeface="Calibri" panose="020F0502020204030204" pitchFamily="34" charset="0"/>
            </a:endParaRPr>
          </a:p>
        </p:txBody>
      </p:sp>
      <p:sp>
        <p:nvSpPr>
          <p:cNvPr id="60" name="Rectangle 59"/>
          <p:cNvSpPr/>
          <p:nvPr/>
        </p:nvSpPr>
        <p:spPr>
          <a:xfrm>
            <a:off x="5334000" y="4889500"/>
            <a:ext cx="1524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TextBox 60"/>
          <p:cNvSpPr txBox="1"/>
          <p:nvPr/>
        </p:nvSpPr>
        <p:spPr>
          <a:xfrm>
            <a:off x="5384800" y="4978400"/>
            <a:ext cx="1422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0.7980</a:t>
            </a:r>
            <a:endParaRPr lang="en-IN" sz="1300">
              <a:solidFill>
                <a:srgbClr val="222222"/>
              </a:solidFill>
              <a:latin typeface="Calibri" panose="020F0502020204030204" pitchFamily="34" charset="0"/>
            </a:endParaRPr>
          </a:p>
        </p:txBody>
      </p:sp>
      <p:sp>
        <p:nvSpPr>
          <p:cNvPr id="62" name="Rectangle 61"/>
          <p:cNvSpPr/>
          <p:nvPr/>
        </p:nvSpPr>
        <p:spPr>
          <a:xfrm>
            <a:off x="6858000" y="4889500"/>
            <a:ext cx="2159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TextBox 62"/>
          <p:cNvSpPr txBox="1"/>
          <p:nvPr/>
        </p:nvSpPr>
        <p:spPr>
          <a:xfrm>
            <a:off x="6908800" y="4978400"/>
            <a:ext cx="2057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51.37%</a:t>
            </a:r>
            <a:endParaRPr lang="en-IN" sz="1300">
              <a:solidFill>
                <a:srgbClr val="222222"/>
              </a:solidFill>
              <a:latin typeface="Calibri" panose="020F0502020204030204" pitchFamily="34" charset="0"/>
            </a:endParaRPr>
          </a:p>
        </p:txBody>
      </p:sp>
      <p:sp>
        <p:nvSpPr>
          <p:cNvPr id="64" name="Rectangle 63"/>
          <p:cNvSpPr/>
          <p:nvPr/>
        </p:nvSpPr>
        <p:spPr>
          <a:xfrm>
            <a:off x="9017000" y="4889500"/>
            <a:ext cx="2159000" cy="444500"/>
          </a:xfrm>
          <a:prstGeom prst="rect">
            <a:avLst/>
          </a:prstGeom>
          <a:solidFill>
            <a:srgbClr val="FFFFFF"/>
          </a:solidFill>
          <a:ln>
            <a:solidFill>
              <a:srgbClr val="CC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TextBox 64"/>
          <p:cNvSpPr txBox="1"/>
          <p:nvPr/>
        </p:nvSpPr>
        <p:spPr>
          <a:xfrm>
            <a:off x="9067800" y="4978400"/>
            <a:ext cx="2057400" cy="302647"/>
          </a:xfrm>
          <a:prstGeom prst="rect">
            <a:avLst/>
          </a:prstGeom>
          <a:noFill/>
        </p:spPr>
        <p:txBody>
          <a:bodyPr vert="horz" wrap="square" lIns="76200" tIns="50800" rIns="76200" bIns="50800" rtlCol="0">
            <a:spAutoFit/>
          </a:bodyPr>
          <a:lstStyle/>
          <a:p>
            <a:pPr algn="ctr"/>
            <a:r>
              <a:rPr lang="en-IN" sz="1300" smtClean="0">
                <a:solidFill>
                  <a:srgbClr val="222222"/>
                </a:solidFill>
                <a:latin typeface="Calibri" panose="020F0502020204030204" pitchFamily="34" charset="0"/>
              </a:rPr>
              <a:t>76.71%</a:t>
            </a:r>
            <a:endParaRPr lang="en-IN" sz="1300">
              <a:solidFill>
                <a:srgbClr val="222222"/>
              </a:solidFill>
              <a:latin typeface="Calibri" panose="020F0502020204030204" pitchFamily="34" charset="0"/>
            </a:endParaRPr>
          </a:p>
        </p:txBody>
      </p:sp>
      <p:sp>
        <p:nvSpPr>
          <p:cNvPr id="66" name="TextBox 65"/>
          <p:cNvSpPr txBox="1"/>
          <p:nvPr/>
        </p:nvSpPr>
        <p:spPr>
          <a:xfrm>
            <a:off x="952500" y="5689600"/>
            <a:ext cx="9906000" cy="379591"/>
          </a:xfrm>
          <a:prstGeom prst="rect">
            <a:avLst/>
          </a:prstGeom>
          <a:noFill/>
        </p:spPr>
        <p:txBody>
          <a:bodyPr vert="horz" wrap="square" lIns="76200" tIns="50800" rIns="76200" bIns="50800" rtlCol="0">
            <a:spAutoFit/>
          </a:bodyPr>
          <a:lstStyle/>
          <a:p>
            <a:pPr algn="ctr"/>
            <a:r>
              <a:rPr lang="en-US" b="1" smtClean="0">
                <a:solidFill>
                  <a:srgbClr val="0B1B2B"/>
                </a:solidFill>
                <a:latin typeface="Calibri" panose="020F0502020204030204" pitchFamily="34" charset="0"/>
              </a:rPr>
              <a:t>Best model: Stacking Ensemble with lowest RMSE_Log and highest R2.</a:t>
            </a:r>
            <a:endParaRPr lang="en-IN" b="1">
              <a:solidFill>
                <a:srgbClr val="0B1B2B"/>
              </a:solidFill>
              <a:latin typeface="Calibri" panose="020F0502020204030204" pitchFamily="34" charset="0"/>
            </a:endParaRPr>
          </a:p>
        </p:txBody>
      </p:sp>
      <p:sp>
        <p:nvSpPr>
          <p:cNvPr id="67" name="TextBox 66"/>
          <p:cNvSpPr txBox="1"/>
          <p:nvPr/>
        </p:nvSpPr>
        <p:spPr>
          <a:xfrm>
            <a:off x="8763000" y="6451600"/>
            <a:ext cx="2921000" cy="241092"/>
          </a:xfrm>
          <a:prstGeom prst="rect">
            <a:avLst/>
          </a:prstGeom>
          <a:noFill/>
        </p:spPr>
        <p:txBody>
          <a:bodyPr vert="horz" wrap="square" lIns="76200" tIns="50800" rIns="76200" bIns="50800" rtlCol="0">
            <a:spAutoFit/>
          </a:bodyPr>
          <a:lstStyle/>
          <a:p>
            <a:pPr algn="r"/>
            <a:r>
              <a:rPr lang="en-US" sz="900" smtClean="0">
                <a:solidFill>
                  <a:srgbClr val="666666"/>
                </a:solidFill>
                <a:latin typeface="Calibri" panose="020F0502020204030204" pitchFamily="34" charset="0"/>
              </a:rPr>
              <a:t>House Price Prediction | Slide 9</a:t>
            </a:r>
            <a:endParaRPr lang="en-IN" sz="900">
              <a:solidFill>
                <a:srgbClr val="666666"/>
              </a:solidFill>
              <a:latin typeface="Calibri" panose="020F0502020204030204" pitchFamily="34" charset="0"/>
            </a:endParaRPr>
          </a:p>
        </p:txBody>
      </p:sp>
    </p:spTree>
    <p:extLst>
      <p:ext uri="{BB962C8B-B14F-4D97-AF65-F5344CB8AC3E}">
        <p14:creationId xmlns:p14="http://schemas.microsoft.com/office/powerpoint/2010/main" val="1046503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63600"/>
          </a:xfrm>
          <a:prstGeom prst="rect">
            <a:avLst/>
          </a:prstGeom>
          <a:solidFill>
            <a:srgbClr val="0B1B2B"/>
          </a:solidFill>
          <a:ln>
            <a:solidFill>
              <a:srgbClr val="0B1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31800" y="152400"/>
            <a:ext cx="9144000" cy="487313"/>
          </a:xfrm>
          <a:prstGeom prst="rect">
            <a:avLst/>
          </a:prstGeom>
          <a:noFill/>
        </p:spPr>
        <p:txBody>
          <a:bodyPr vert="horz" wrap="square" lIns="76200" tIns="50800" rIns="76200" bIns="50800" rtlCol="0">
            <a:spAutoFit/>
          </a:bodyPr>
          <a:lstStyle/>
          <a:p>
            <a:r>
              <a:rPr lang="en-IN" sz="2500" b="1" smtClean="0">
                <a:solidFill>
                  <a:srgbClr val="FFFFFF"/>
                </a:solidFill>
                <a:latin typeface="Calibri" panose="020F0502020204030204" pitchFamily="34" charset="0"/>
              </a:rPr>
              <a:t>Inferences &amp; Conclusion</a:t>
            </a:r>
            <a:endParaRPr lang="en-IN" sz="2500" b="1">
              <a:solidFill>
                <a:srgbClr val="FFFFFF"/>
              </a:solidFill>
              <a:latin typeface="Calibri" panose="020F0502020204030204" pitchFamily="34" charset="0"/>
            </a:endParaRPr>
          </a:p>
        </p:txBody>
      </p:sp>
      <p:sp>
        <p:nvSpPr>
          <p:cNvPr id="4" name="TextBox 3"/>
          <p:cNvSpPr txBox="1"/>
          <p:nvPr/>
        </p:nvSpPr>
        <p:spPr>
          <a:xfrm>
            <a:off x="9652000" y="215900"/>
            <a:ext cx="2032000" cy="287258"/>
          </a:xfrm>
          <a:prstGeom prst="rect">
            <a:avLst/>
          </a:prstGeom>
          <a:noFill/>
        </p:spPr>
        <p:txBody>
          <a:bodyPr vert="horz" wrap="square" lIns="76200" tIns="50800" rIns="76200" bIns="50800" rtlCol="0">
            <a:spAutoFit/>
          </a:bodyPr>
          <a:lstStyle/>
          <a:p>
            <a:pPr algn="r"/>
            <a:r>
              <a:rPr lang="en-IN" sz="1200" smtClean="0">
                <a:solidFill>
                  <a:srgbClr val="FFFFFF"/>
                </a:solidFill>
                <a:latin typeface="Calibri" panose="020F0502020204030204" pitchFamily="34" charset="0"/>
              </a:rPr>
              <a:t>Final Slide</a:t>
            </a:r>
            <a:endParaRPr lang="en-IN" sz="1200">
              <a:solidFill>
                <a:srgbClr val="FFFFFF"/>
              </a:solidFill>
              <a:latin typeface="Calibri" panose="020F0502020204030204" pitchFamily="34" charset="0"/>
            </a:endParaRPr>
          </a:p>
        </p:txBody>
      </p:sp>
      <p:sp>
        <p:nvSpPr>
          <p:cNvPr id="5" name="Rounded Rectangle 4"/>
          <p:cNvSpPr/>
          <p:nvPr/>
        </p:nvSpPr>
        <p:spPr>
          <a:xfrm>
            <a:off x="698500" y="1206500"/>
            <a:ext cx="2540000" cy="381000"/>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800100" y="1257300"/>
            <a:ext cx="2336800" cy="318036"/>
          </a:xfrm>
          <a:prstGeom prst="rect">
            <a:avLst/>
          </a:prstGeom>
          <a:noFill/>
        </p:spPr>
        <p:txBody>
          <a:bodyPr vert="horz" wrap="square" lIns="76200" tIns="50800" rIns="76200" bIns="50800" rtlCol="0">
            <a:spAutoFit/>
          </a:bodyPr>
          <a:lstStyle/>
          <a:p>
            <a:r>
              <a:rPr lang="en-IN" sz="1400" b="1" smtClean="0">
                <a:solidFill>
                  <a:srgbClr val="FFFFFF"/>
                </a:solidFill>
                <a:latin typeface="Calibri" panose="020F0502020204030204" pitchFamily="34" charset="0"/>
              </a:rPr>
              <a:t>Key Inferences</a:t>
            </a:r>
            <a:endParaRPr lang="en-IN" sz="1400" b="1">
              <a:solidFill>
                <a:srgbClr val="FFFFFF"/>
              </a:solidFill>
              <a:latin typeface="Calibri" panose="020F0502020204030204" pitchFamily="34" charset="0"/>
            </a:endParaRPr>
          </a:p>
        </p:txBody>
      </p:sp>
      <p:sp>
        <p:nvSpPr>
          <p:cNvPr id="7" name="TextBox 6"/>
          <p:cNvSpPr txBox="1"/>
          <p:nvPr/>
        </p:nvSpPr>
        <p:spPr>
          <a:xfrm>
            <a:off x="889000" y="1841500"/>
            <a:ext cx="10160000" cy="1492716"/>
          </a:xfrm>
          <a:prstGeom prst="rect">
            <a:avLst/>
          </a:prstGeom>
          <a:noFill/>
        </p:spPr>
        <p:txBody>
          <a:bodyPr vert="horz" wrap="square" lIns="101600" tIns="76200" rIns="101600" bIns="76200" rtlCol="0">
            <a:spAutoFit/>
          </a:bodyPr>
          <a:lstStyle/>
          <a:p>
            <a:pPr marL="342900" indent="-342900">
              <a:spcAft>
                <a:spcPts val="600"/>
              </a:spcAft>
              <a:buFont typeface="+mj-lt"/>
              <a:buChar char="•"/>
            </a:pPr>
            <a:r>
              <a:rPr lang="en-US" smtClean="0">
                <a:solidFill>
                  <a:srgbClr val="222222"/>
                </a:solidFill>
                <a:latin typeface="Calibri" panose="020F0502020204030204" pitchFamily="34" charset="0"/>
              </a:rPr>
              <a:t>Engineered features improved the representation of house structure and age</a:t>
            </a:r>
          </a:p>
          <a:p>
            <a:pPr marL="342900" indent="-342900">
              <a:spcAft>
                <a:spcPts val="600"/>
              </a:spcAft>
              <a:buFont typeface="+mj-lt"/>
              <a:buChar char="•"/>
            </a:pPr>
            <a:r>
              <a:rPr lang="en-US" smtClean="0">
                <a:solidFill>
                  <a:srgbClr val="222222"/>
                </a:solidFill>
                <a:latin typeface="Calibri" panose="020F0502020204030204" pitchFamily="34" charset="0"/>
              </a:rPr>
              <a:t>Overall quality, total area, living area, garage, and bath count were strong price indicators</a:t>
            </a:r>
          </a:p>
          <a:p>
            <a:pPr marL="342900" indent="-342900">
              <a:spcAft>
                <a:spcPts val="600"/>
              </a:spcAft>
              <a:buFont typeface="+mj-lt"/>
              <a:buChar char="•"/>
            </a:pPr>
            <a:r>
              <a:rPr lang="en-US" smtClean="0">
                <a:solidFill>
                  <a:srgbClr val="222222"/>
                </a:solidFill>
                <a:latin typeface="Calibri" panose="020F0502020204030204" pitchFamily="34" charset="0"/>
              </a:rPr>
              <a:t>Linear Regression was strong, but ensemble learning gave the best overall result</a:t>
            </a:r>
          </a:p>
          <a:p>
            <a:pPr marL="342900" indent="-342900">
              <a:spcAft>
                <a:spcPts val="600"/>
              </a:spcAft>
              <a:buFont typeface="+mj-lt"/>
              <a:buChar char="•"/>
            </a:pPr>
            <a:r>
              <a:rPr lang="en-US" smtClean="0">
                <a:solidFill>
                  <a:srgbClr val="222222"/>
                </a:solidFill>
                <a:latin typeface="Calibri" panose="020F0502020204030204" pitchFamily="34" charset="0"/>
              </a:rPr>
              <a:t>K-Means was useful for grouping, but regression models were better for exact price prediction</a:t>
            </a:r>
            <a:endParaRPr lang="en-IN">
              <a:solidFill>
                <a:srgbClr val="222222"/>
              </a:solidFill>
              <a:latin typeface="Calibri" panose="020F0502020204030204" pitchFamily="34" charset="0"/>
            </a:endParaRPr>
          </a:p>
        </p:txBody>
      </p:sp>
      <p:sp>
        <p:nvSpPr>
          <p:cNvPr id="8" name="Rounded Rectangle 7"/>
          <p:cNvSpPr/>
          <p:nvPr/>
        </p:nvSpPr>
        <p:spPr>
          <a:xfrm>
            <a:off x="698500" y="4191000"/>
            <a:ext cx="2032000" cy="381000"/>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800100" y="4241800"/>
            <a:ext cx="1828800" cy="318036"/>
          </a:xfrm>
          <a:prstGeom prst="rect">
            <a:avLst/>
          </a:prstGeom>
          <a:noFill/>
        </p:spPr>
        <p:txBody>
          <a:bodyPr vert="horz" wrap="square" lIns="76200" tIns="50800" rIns="76200" bIns="50800" rtlCol="0">
            <a:spAutoFit/>
          </a:bodyPr>
          <a:lstStyle/>
          <a:p>
            <a:r>
              <a:rPr lang="en-IN" sz="1400" b="1" smtClean="0">
                <a:solidFill>
                  <a:srgbClr val="FFFFFF"/>
                </a:solidFill>
                <a:latin typeface="Calibri" panose="020F0502020204030204" pitchFamily="34" charset="0"/>
              </a:rPr>
              <a:t>Conclusion</a:t>
            </a:r>
            <a:endParaRPr lang="en-IN" sz="1400" b="1">
              <a:solidFill>
                <a:srgbClr val="FFFFFF"/>
              </a:solidFill>
              <a:latin typeface="Calibri" panose="020F0502020204030204" pitchFamily="34" charset="0"/>
            </a:endParaRPr>
          </a:p>
        </p:txBody>
      </p:sp>
      <p:sp>
        <p:nvSpPr>
          <p:cNvPr id="10" name="TextBox 9"/>
          <p:cNvSpPr txBox="1"/>
          <p:nvPr/>
        </p:nvSpPr>
        <p:spPr>
          <a:xfrm>
            <a:off x="889000" y="4800600"/>
            <a:ext cx="10160000" cy="979755"/>
          </a:xfrm>
          <a:prstGeom prst="rect">
            <a:avLst/>
          </a:prstGeom>
          <a:noFill/>
        </p:spPr>
        <p:txBody>
          <a:bodyPr vert="horz" wrap="square" lIns="76200" tIns="50800" rIns="76200" bIns="50800" rtlCol="0">
            <a:spAutoFit/>
          </a:bodyPr>
          <a:lstStyle/>
          <a:p>
            <a:r>
              <a:rPr lang="en-US" sz="1900" b="1" smtClean="0">
                <a:solidFill>
                  <a:srgbClr val="222222"/>
                </a:solidFill>
                <a:latin typeface="Calibri" panose="020F0502020204030204" pitchFamily="34" charset="0"/>
              </a:rPr>
              <a:t>A complete ML pipeline was built for house price prediction. The Stacking Ensemble was selected as the final model with R2 = 0.9068 and RMSE_Log = 0.1319. Final test predictions were saved as submission_ensemble.csv.</a:t>
            </a:r>
            <a:endParaRPr lang="en-IN" sz="1900" b="1">
              <a:solidFill>
                <a:srgbClr val="222222"/>
              </a:solidFill>
              <a:latin typeface="Calibri" panose="020F0502020204030204" pitchFamily="34" charset="0"/>
            </a:endParaRPr>
          </a:p>
        </p:txBody>
      </p:sp>
      <p:sp>
        <p:nvSpPr>
          <p:cNvPr id="11" name="TextBox 10"/>
          <p:cNvSpPr txBox="1"/>
          <p:nvPr/>
        </p:nvSpPr>
        <p:spPr>
          <a:xfrm>
            <a:off x="8763000" y="6451600"/>
            <a:ext cx="2921000" cy="241092"/>
          </a:xfrm>
          <a:prstGeom prst="rect">
            <a:avLst/>
          </a:prstGeom>
          <a:noFill/>
        </p:spPr>
        <p:txBody>
          <a:bodyPr vert="horz" wrap="square" lIns="76200" tIns="50800" rIns="76200" bIns="50800" rtlCol="0">
            <a:spAutoFit/>
          </a:bodyPr>
          <a:lstStyle/>
          <a:p>
            <a:pPr algn="r"/>
            <a:r>
              <a:rPr lang="en-US" sz="900" smtClean="0">
                <a:solidFill>
                  <a:srgbClr val="666666"/>
                </a:solidFill>
                <a:latin typeface="Calibri" panose="020F0502020204030204" pitchFamily="34" charset="0"/>
              </a:rPr>
              <a:t>House Price Prediction | Slide 10</a:t>
            </a:r>
            <a:endParaRPr lang="en-IN" sz="900">
              <a:solidFill>
                <a:srgbClr val="666666"/>
              </a:solidFill>
              <a:latin typeface="Calibri" panose="020F0502020204030204" pitchFamily="34" charset="0"/>
            </a:endParaRPr>
          </a:p>
        </p:txBody>
      </p:sp>
    </p:spTree>
    <p:extLst>
      <p:ext uri="{BB962C8B-B14F-4D97-AF65-F5344CB8AC3E}">
        <p14:creationId xmlns:p14="http://schemas.microsoft.com/office/powerpoint/2010/main" val="19037389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841</Words>
  <Application>Microsoft Office PowerPoint</Application>
  <PresentationFormat>Custom</PresentationFormat>
  <Paragraphs>145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1</cp:revision>
  <dcterms:created xsi:type="dcterms:W3CDTF">2026-04-07T15:27:49Z</dcterms:created>
  <dcterms:modified xsi:type="dcterms:W3CDTF">2026-04-07T15:27:49Z</dcterms:modified>
</cp:coreProperties>
</file>